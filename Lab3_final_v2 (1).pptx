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AS8hP29EjY7tAYBEVxTAK6ci9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7241c1330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g397241c1330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g397241c1330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7241c133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97241c1330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397241c1330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73c56dd05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973c56dd05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g3973c56dd05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97241c1330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97241c1330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397241c1330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7241c1330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97241c1330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97241c1330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86AB"/>
        </a:solidFill>
      </p:bgPr>
    </p:bg>
    <p:spTree>
      <p:nvGrpSpPr>
        <p:cNvPr id="15" name="Shape 15"/>
        <p:cNvGrpSpPr/>
        <p:nvPr/>
      </p:nvGrpSpPr>
      <p:grpSpPr>
        <a:xfrm>
          <a:off x="0" y="0"/>
          <a:ext cx="0" cy="0"/>
          <a:chOff x="0" y="0"/>
          <a:chExt cx="0" cy="0"/>
        </a:xfrm>
      </p:grpSpPr>
      <p:sp>
        <p:nvSpPr>
          <p:cNvPr id="16" name="Google Shape;16;p1"/>
          <p:cNvSpPr/>
          <p:nvPr/>
        </p:nvSpPr>
        <p:spPr>
          <a:xfrm>
            <a:off x="-1371600" y="-1371600"/>
            <a:ext cx="5029200" cy="5029200"/>
          </a:xfrm>
          <a:prstGeom prst="ellipse">
            <a:avLst/>
          </a:prstGeom>
          <a:solidFill>
            <a:srgbClr val="4AA8C8">
              <a:alpha val="45098"/>
            </a:srgbClr>
          </a:solidFill>
          <a:ln cap="flat" cmpd="sng" w="12700">
            <a:solidFill>
              <a:srgbClr val="4AA8C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5943600" y="2286000"/>
            <a:ext cx="4572000" cy="4572000"/>
          </a:xfrm>
          <a:prstGeom prst="ellipse">
            <a:avLst/>
          </a:prstGeom>
          <a:solidFill>
            <a:srgbClr val="1B3A6B">
              <a:alpha val="80000"/>
            </a:srgbClr>
          </a:solidFill>
          <a:ln cap="flat" cmpd="sng" w="12700">
            <a:solidFill>
              <a:srgbClr val="1B3A6B">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457200" y="3200400"/>
            <a:ext cx="2743200" cy="2743200"/>
          </a:xfrm>
          <a:prstGeom prst="ellipse">
            <a:avLst/>
          </a:prstGeom>
          <a:solidFill>
            <a:srgbClr val="1A5F7A">
              <a:alpha val="50196"/>
            </a:srgbClr>
          </a:solidFill>
          <a:ln cap="flat" cmpd="sng" w="12700">
            <a:solidFill>
              <a:srgbClr val="1A5F7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457200" y="1188720"/>
            <a:ext cx="82296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Lab 3</a:t>
            </a:r>
            <a:endParaRPr b="0" i="0" sz="2200" u="none" cap="none" strike="noStrike">
              <a:solidFill>
                <a:schemeClr val="dk1"/>
              </a:solidFill>
              <a:latin typeface="Calibri"/>
              <a:ea typeface="Calibri"/>
              <a:cs typeface="Calibri"/>
              <a:sym typeface="Calibri"/>
            </a:endParaRPr>
          </a:p>
        </p:txBody>
      </p:sp>
      <p:sp>
        <p:nvSpPr>
          <p:cNvPr id="20" name="Google Shape;20;p1"/>
          <p:cNvSpPr/>
          <p:nvPr/>
        </p:nvSpPr>
        <p:spPr>
          <a:xfrm>
            <a:off x="457200" y="1737360"/>
            <a:ext cx="8229600" cy="1280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Firewall Implementation</a:t>
            </a:r>
            <a:endParaRPr b="0" i="0" sz="5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&amp; Access Control</a:t>
            </a:r>
            <a:endParaRPr b="0" i="0" sz="5200" u="none" cap="none" strike="noStrike">
              <a:solidFill>
                <a:schemeClr val="dk1"/>
              </a:solidFill>
              <a:latin typeface="Calibri"/>
              <a:ea typeface="Calibri"/>
              <a:cs typeface="Calibri"/>
              <a:sym typeface="Calibri"/>
            </a:endParaRPr>
          </a:p>
        </p:txBody>
      </p:sp>
      <p:sp>
        <p:nvSpPr>
          <p:cNvPr id="21" name="Google Shape;21;p1"/>
          <p:cNvSpPr/>
          <p:nvPr/>
        </p:nvSpPr>
        <p:spPr>
          <a:xfrm>
            <a:off x="3200400" y="3246120"/>
            <a:ext cx="2743200" cy="64008"/>
          </a:xfrm>
          <a:prstGeom prst="rect">
            <a:avLst/>
          </a:prstGeom>
          <a:solidFill>
            <a:srgbClr val="FFFFFF">
              <a:alpha val="60000"/>
            </a:srgbClr>
          </a:solidFill>
          <a:ln cap="flat" cmpd="sng" w="12700">
            <a:solidFill>
              <a:srgbClr val="FFFFFF">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457200" y="3429000"/>
            <a:ext cx="822960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CSIT491 - Network and Cybersecurity Lab</a:t>
            </a:r>
            <a:endParaRPr b="0" i="0" sz="1400" u="none" cap="none" strike="noStrike">
              <a:solidFill>
                <a:schemeClr val="dk1"/>
              </a:solidFill>
              <a:latin typeface="Calibri"/>
              <a:ea typeface="Calibri"/>
              <a:cs typeface="Calibri"/>
              <a:sym typeface="Calibri"/>
            </a:endParaRPr>
          </a:p>
        </p:txBody>
      </p:sp>
      <p:sp>
        <p:nvSpPr>
          <p:cNvPr id="23" name="Google Shape;23;p1"/>
          <p:cNvSpPr/>
          <p:nvPr/>
        </p:nvSpPr>
        <p:spPr>
          <a:xfrm>
            <a:off x="457200" y="3931920"/>
            <a:ext cx="822960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Anthony Castellanos  •  Imran Ahmed  •  Murtaza Syed</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457200" y="4251960"/>
            <a:ext cx="822960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Nicolas Hoyos  •  Shaied Uddin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9" name="Shape 29"/>
        <p:cNvGrpSpPr/>
        <p:nvPr/>
      </p:nvGrpSpPr>
      <p:grpSpPr>
        <a:xfrm>
          <a:off x="0" y="0"/>
          <a:ext cx="0" cy="0"/>
          <a:chOff x="0" y="0"/>
          <a:chExt cx="0" cy="0"/>
        </a:xfrm>
      </p:grpSpPr>
      <p:sp>
        <p:nvSpPr>
          <p:cNvPr id="30" name="Google Shape;30;p2"/>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Lab Objectives</a:t>
            </a:r>
            <a:endParaRPr b="0" i="0" sz="4000" u="none" cap="none" strike="noStrike">
              <a:solidFill>
                <a:schemeClr val="dk1"/>
              </a:solidFill>
              <a:latin typeface="Calibri"/>
              <a:ea typeface="Calibri"/>
              <a:cs typeface="Calibri"/>
              <a:sym typeface="Calibri"/>
            </a:endParaRPr>
          </a:p>
        </p:txBody>
      </p:sp>
      <p:sp>
        <p:nvSpPr>
          <p:cNvPr id="31" name="Google Shape;31;p2"/>
          <p:cNvSpPr/>
          <p:nvPr/>
        </p:nvSpPr>
        <p:spPr>
          <a:xfrm>
            <a:off x="320040" y="1051560"/>
            <a:ext cx="8503920" cy="749808"/>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411480" y="1179576"/>
            <a:ext cx="493776" cy="493776"/>
          </a:xfrm>
          <a:prstGeom prst="ellipse">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411480" y="1179576"/>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4" name="Google Shape;34;p2"/>
          <p:cNvSpPr/>
          <p:nvPr/>
        </p:nvSpPr>
        <p:spPr>
          <a:xfrm>
            <a:off x="1051560" y="1234440"/>
            <a:ext cx="75895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Configure router interfaces (FastEthernet0/0 and FastEthernet0/1) with IP addresses and bring them up</a:t>
            </a:r>
            <a:endParaRPr b="0" i="0" sz="1500" u="none" cap="none" strike="noStrike">
              <a:solidFill>
                <a:schemeClr val="dk1"/>
              </a:solidFill>
              <a:latin typeface="Calibri"/>
              <a:ea typeface="Calibri"/>
              <a:cs typeface="Calibri"/>
              <a:sym typeface="Calibri"/>
            </a:endParaRPr>
          </a:p>
        </p:txBody>
      </p:sp>
      <p:sp>
        <p:nvSpPr>
          <p:cNvPr id="35" name="Google Shape;35;p2"/>
          <p:cNvSpPr/>
          <p:nvPr/>
        </p:nvSpPr>
        <p:spPr>
          <a:xfrm>
            <a:off x="320040" y="1947672"/>
            <a:ext cx="8503920" cy="749808"/>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411480" y="2075688"/>
            <a:ext cx="493776" cy="493776"/>
          </a:xfrm>
          <a:prstGeom prst="ellipse">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411480" y="2075688"/>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8" name="Google Shape;38;p2"/>
          <p:cNvSpPr/>
          <p:nvPr/>
        </p:nvSpPr>
        <p:spPr>
          <a:xfrm>
            <a:off x="1051560" y="2130552"/>
            <a:ext cx="75895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Apply an Extended Named ACL (FIREWALL_POLICY) to permit HTTP (80) and HTTPS (443) while denying SSH (22) and Telnet (23)</a:t>
            </a:r>
            <a:endParaRPr b="0" i="0" sz="1500" u="none" cap="none" strike="noStrike">
              <a:solidFill>
                <a:schemeClr val="dk1"/>
              </a:solidFill>
              <a:latin typeface="Calibri"/>
              <a:ea typeface="Calibri"/>
              <a:cs typeface="Calibri"/>
              <a:sym typeface="Calibri"/>
            </a:endParaRPr>
          </a:p>
        </p:txBody>
      </p:sp>
      <p:sp>
        <p:nvSpPr>
          <p:cNvPr id="39" name="Google Shape;39;p2"/>
          <p:cNvSpPr/>
          <p:nvPr/>
        </p:nvSpPr>
        <p:spPr>
          <a:xfrm>
            <a:off x="320040" y="2843784"/>
            <a:ext cx="8503920" cy="749808"/>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411480" y="2971800"/>
            <a:ext cx="493776" cy="493776"/>
          </a:xfrm>
          <a:prstGeom prst="ellipse">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411480" y="2971800"/>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2" name="Google Shape;42;p2"/>
          <p:cNvSpPr/>
          <p:nvPr/>
        </p:nvSpPr>
        <p:spPr>
          <a:xfrm>
            <a:off x="1051560" y="3026664"/>
            <a:ext cx="75895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Test allowed traffic (HTTP browser) and blocked traffic (Telnet) from PC0 to Server0</a:t>
            </a:r>
            <a:endParaRPr b="0" i="0" sz="1500" u="none" cap="none" strike="noStrike">
              <a:solidFill>
                <a:schemeClr val="dk1"/>
              </a:solidFill>
              <a:latin typeface="Calibri"/>
              <a:ea typeface="Calibri"/>
              <a:cs typeface="Calibri"/>
              <a:sym typeface="Calibri"/>
            </a:endParaRPr>
          </a:p>
        </p:txBody>
      </p:sp>
      <p:sp>
        <p:nvSpPr>
          <p:cNvPr id="43" name="Google Shape;43;p2"/>
          <p:cNvSpPr/>
          <p:nvPr/>
        </p:nvSpPr>
        <p:spPr>
          <a:xfrm>
            <a:off x="320040" y="3739896"/>
            <a:ext cx="8503920" cy="749808"/>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411480" y="3867912"/>
            <a:ext cx="493776" cy="493776"/>
          </a:xfrm>
          <a:prstGeom prst="ellipse">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411480" y="3867912"/>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6" name="Google Shape;46;p2"/>
          <p:cNvSpPr/>
          <p:nvPr/>
        </p:nvSpPr>
        <p:spPr>
          <a:xfrm>
            <a:off x="1051560" y="3922776"/>
            <a:ext cx="75895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Verify ACL enforcement using show access-list and Wireshark traffic captures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51" name="Shape 51"/>
        <p:cNvGrpSpPr/>
        <p:nvPr/>
      </p:nvGrpSpPr>
      <p:grpSpPr>
        <a:xfrm>
          <a:off x="0" y="0"/>
          <a:ext cx="0" cy="0"/>
          <a:chOff x="0" y="0"/>
          <a:chExt cx="0" cy="0"/>
        </a:xfrm>
      </p:grpSpPr>
      <p:sp>
        <p:nvSpPr>
          <p:cNvPr id="52" name="Google Shape;52;p3"/>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Equipment &amp; Tools</a:t>
            </a:r>
            <a:endParaRPr b="0" i="0" sz="4000" u="none" cap="none" strike="noStrike">
              <a:solidFill>
                <a:schemeClr val="dk1"/>
              </a:solidFill>
              <a:latin typeface="Calibri"/>
              <a:ea typeface="Calibri"/>
              <a:cs typeface="Calibri"/>
              <a:sym typeface="Calibri"/>
            </a:endParaRPr>
          </a:p>
        </p:txBody>
      </p:sp>
      <p:sp>
        <p:nvSpPr>
          <p:cNvPr id="53" name="Google Shape;53;p3"/>
          <p:cNvSpPr/>
          <p:nvPr/>
        </p:nvSpPr>
        <p:spPr>
          <a:xfrm>
            <a:off x="320040" y="1005840"/>
            <a:ext cx="4206240" cy="141732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
          <p:cNvSpPr/>
          <p:nvPr/>
        </p:nvSpPr>
        <p:spPr>
          <a:xfrm>
            <a:off x="502920" y="14173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800"/>
              <a:buFont typeface="Calibri"/>
              <a:buNone/>
            </a:pPr>
            <a:r>
              <a:rPr b="1" i="0" lang="en-US" sz="1800" u="none" cap="none" strike="noStrike">
                <a:solidFill>
                  <a:srgbClr val="1A4A6B"/>
                </a:solidFill>
                <a:latin typeface="Calibri"/>
                <a:ea typeface="Calibri"/>
                <a:cs typeface="Calibri"/>
                <a:sym typeface="Calibri"/>
              </a:rPr>
              <a:t>Router</a:t>
            </a:r>
            <a:endParaRPr b="0" i="0" sz="1800" u="none" cap="none" strike="noStrike">
              <a:solidFill>
                <a:schemeClr val="dk1"/>
              </a:solidFill>
              <a:latin typeface="Calibri"/>
              <a:ea typeface="Calibri"/>
              <a:cs typeface="Calibri"/>
              <a:sym typeface="Calibri"/>
            </a:endParaRPr>
          </a:p>
        </p:txBody>
      </p:sp>
      <p:sp>
        <p:nvSpPr>
          <p:cNvPr id="55" name="Google Shape;55;p3"/>
          <p:cNvSpPr/>
          <p:nvPr/>
        </p:nvSpPr>
        <p:spPr>
          <a:xfrm>
            <a:off x="502920" y="1810512"/>
            <a:ext cx="3840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300"/>
              <a:buFont typeface="Calibri"/>
              <a:buNone/>
            </a:pPr>
            <a:r>
              <a:rPr b="0" i="0" lang="en-US" sz="1300" u="none" cap="none" strike="noStrike">
                <a:solidFill>
                  <a:srgbClr val="666666"/>
                </a:solidFill>
                <a:latin typeface="Calibri"/>
                <a:ea typeface="Calibri"/>
                <a:cs typeface="Calibri"/>
                <a:sym typeface="Calibri"/>
              </a:rPr>
              <a:t>1x Cisco 2811 Router (FastEthernet Interface)</a:t>
            </a:r>
            <a:endParaRPr b="0" i="0" sz="1300" u="none" cap="none" strike="noStrike">
              <a:solidFill>
                <a:schemeClr val="dk1"/>
              </a:solidFill>
              <a:latin typeface="Calibri"/>
              <a:ea typeface="Calibri"/>
              <a:cs typeface="Calibri"/>
              <a:sym typeface="Calibri"/>
            </a:endParaRPr>
          </a:p>
        </p:txBody>
      </p:sp>
      <p:sp>
        <p:nvSpPr>
          <p:cNvPr id="56" name="Google Shape;56;p3"/>
          <p:cNvSpPr/>
          <p:nvPr/>
        </p:nvSpPr>
        <p:spPr>
          <a:xfrm>
            <a:off x="4617720" y="1005840"/>
            <a:ext cx="4206240" cy="141732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3"/>
          <p:cNvSpPr/>
          <p:nvPr/>
        </p:nvSpPr>
        <p:spPr>
          <a:xfrm>
            <a:off x="4800600" y="14173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800"/>
              <a:buFont typeface="Calibri"/>
              <a:buNone/>
            </a:pPr>
            <a:r>
              <a:rPr b="1" i="0" lang="en-US" sz="1800" u="none" cap="none" strike="noStrike">
                <a:solidFill>
                  <a:srgbClr val="1A4A6B"/>
                </a:solidFill>
                <a:latin typeface="Calibri"/>
                <a:ea typeface="Calibri"/>
                <a:cs typeface="Calibri"/>
                <a:sym typeface="Calibri"/>
              </a:rPr>
              <a:t>Switch</a:t>
            </a:r>
            <a:endParaRPr b="0" i="0" sz="1800" u="none" cap="none" strike="noStrike">
              <a:solidFill>
                <a:schemeClr val="dk1"/>
              </a:solidFill>
              <a:latin typeface="Calibri"/>
              <a:ea typeface="Calibri"/>
              <a:cs typeface="Calibri"/>
              <a:sym typeface="Calibri"/>
            </a:endParaRPr>
          </a:p>
        </p:txBody>
      </p:sp>
      <p:sp>
        <p:nvSpPr>
          <p:cNvPr id="58" name="Google Shape;58;p3"/>
          <p:cNvSpPr/>
          <p:nvPr/>
        </p:nvSpPr>
        <p:spPr>
          <a:xfrm>
            <a:off x="4800600" y="1810512"/>
            <a:ext cx="3840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300"/>
              <a:buFont typeface="Calibri"/>
              <a:buNone/>
            </a:pPr>
            <a:r>
              <a:rPr b="0" i="0" lang="en-US" sz="1300" u="none" cap="none" strike="noStrike">
                <a:solidFill>
                  <a:srgbClr val="666666"/>
                </a:solidFill>
                <a:latin typeface="Calibri"/>
                <a:ea typeface="Calibri"/>
                <a:cs typeface="Calibri"/>
                <a:sym typeface="Calibri"/>
              </a:rPr>
              <a:t>No switch — direct PC0 to Router0 connection</a:t>
            </a:r>
            <a:endParaRPr b="0" i="0" sz="1300" u="none" cap="none" strike="noStrike">
              <a:solidFill>
                <a:schemeClr val="dk1"/>
              </a:solidFill>
              <a:latin typeface="Calibri"/>
              <a:ea typeface="Calibri"/>
              <a:cs typeface="Calibri"/>
              <a:sym typeface="Calibri"/>
            </a:endParaRPr>
          </a:p>
        </p:txBody>
      </p:sp>
      <p:sp>
        <p:nvSpPr>
          <p:cNvPr id="59" name="Google Shape;59;p3"/>
          <p:cNvSpPr/>
          <p:nvPr/>
        </p:nvSpPr>
        <p:spPr>
          <a:xfrm>
            <a:off x="320040" y="2606040"/>
            <a:ext cx="4206240" cy="141732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
          <p:cNvSpPr/>
          <p:nvPr/>
        </p:nvSpPr>
        <p:spPr>
          <a:xfrm>
            <a:off x="502920" y="30175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800"/>
              <a:buFont typeface="Calibri"/>
              <a:buNone/>
            </a:pPr>
            <a:r>
              <a:rPr b="1" i="0" lang="en-US" sz="1800" u="none" cap="none" strike="noStrike">
                <a:solidFill>
                  <a:srgbClr val="1A4A6B"/>
                </a:solidFill>
                <a:latin typeface="Calibri"/>
                <a:ea typeface="Calibri"/>
                <a:cs typeface="Calibri"/>
                <a:sym typeface="Calibri"/>
              </a:rPr>
              <a:t>End Devices</a:t>
            </a:r>
            <a:endParaRPr b="0" i="0" sz="1800" u="none" cap="none" strike="noStrike">
              <a:solidFill>
                <a:schemeClr val="dk1"/>
              </a:solidFill>
              <a:latin typeface="Calibri"/>
              <a:ea typeface="Calibri"/>
              <a:cs typeface="Calibri"/>
              <a:sym typeface="Calibri"/>
            </a:endParaRPr>
          </a:p>
        </p:txBody>
      </p:sp>
      <p:sp>
        <p:nvSpPr>
          <p:cNvPr id="61" name="Google Shape;61;p3"/>
          <p:cNvSpPr/>
          <p:nvPr/>
        </p:nvSpPr>
        <p:spPr>
          <a:xfrm>
            <a:off x="502920" y="3410712"/>
            <a:ext cx="3840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300"/>
              <a:buFont typeface="Calibri"/>
              <a:buNone/>
            </a:pPr>
            <a:r>
              <a:rPr b="0" i="0" lang="en-US" sz="1300" u="none" cap="none" strike="noStrike">
                <a:solidFill>
                  <a:srgbClr val="666666"/>
                </a:solidFill>
                <a:latin typeface="Calibri"/>
                <a:ea typeface="Calibri"/>
                <a:cs typeface="Calibri"/>
                <a:sym typeface="Calibri"/>
              </a:rPr>
              <a:t>1x PC (PC0), 1x Server (Server-PT)</a:t>
            </a:r>
            <a:endParaRPr b="0" i="0" sz="1300" u="none" cap="none" strike="noStrike">
              <a:solidFill>
                <a:schemeClr val="dk1"/>
              </a:solidFill>
              <a:latin typeface="Calibri"/>
              <a:ea typeface="Calibri"/>
              <a:cs typeface="Calibri"/>
              <a:sym typeface="Calibri"/>
            </a:endParaRPr>
          </a:p>
        </p:txBody>
      </p:sp>
      <p:sp>
        <p:nvSpPr>
          <p:cNvPr id="62" name="Google Shape;62;p3"/>
          <p:cNvSpPr/>
          <p:nvPr/>
        </p:nvSpPr>
        <p:spPr>
          <a:xfrm>
            <a:off x="4617720" y="2606040"/>
            <a:ext cx="4206240" cy="141732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4800600" y="30175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800"/>
              <a:buFont typeface="Calibri"/>
              <a:buNone/>
            </a:pPr>
            <a:r>
              <a:rPr b="1" i="0" lang="en-US" sz="1800" u="none" cap="none" strike="noStrike">
                <a:solidFill>
                  <a:srgbClr val="1A4A6B"/>
                </a:solidFill>
                <a:latin typeface="Calibri"/>
                <a:ea typeface="Calibri"/>
                <a:cs typeface="Calibri"/>
                <a:sym typeface="Calibri"/>
              </a:rPr>
              <a:t>Software</a:t>
            </a:r>
            <a:endParaRPr b="0" i="0" sz="1800" u="none" cap="none" strike="noStrike">
              <a:solidFill>
                <a:schemeClr val="dk1"/>
              </a:solidFill>
              <a:latin typeface="Calibri"/>
              <a:ea typeface="Calibri"/>
              <a:cs typeface="Calibri"/>
              <a:sym typeface="Calibri"/>
            </a:endParaRPr>
          </a:p>
        </p:txBody>
      </p:sp>
      <p:sp>
        <p:nvSpPr>
          <p:cNvPr id="64" name="Google Shape;64;p3"/>
          <p:cNvSpPr/>
          <p:nvPr/>
        </p:nvSpPr>
        <p:spPr>
          <a:xfrm>
            <a:off x="4800600" y="3410712"/>
            <a:ext cx="3840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300"/>
              <a:buFont typeface="Calibri"/>
              <a:buNone/>
            </a:pPr>
            <a:r>
              <a:rPr b="0" i="0" lang="en-US" sz="1300" u="none" cap="none" strike="noStrike">
                <a:solidFill>
                  <a:srgbClr val="666666"/>
                </a:solidFill>
                <a:latin typeface="Calibri"/>
                <a:ea typeface="Calibri"/>
                <a:cs typeface="Calibri"/>
                <a:sym typeface="Calibri"/>
              </a:rPr>
              <a:t>Cisco Packet Tracer 8.2.2</a:t>
            </a:r>
            <a:endParaRPr b="0" i="0" sz="1300" u="none" cap="none" strike="noStrike">
              <a:solidFill>
                <a:schemeClr val="dk1"/>
              </a:solidFill>
              <a:latin typeface="Calibri"/>
              <a:ea typeface="Calibri"/>
              <a:cs typeface="Calibri"/>
              <a:sym typeface="Calibri"/>
            </a:endParaRPr>
          </a:p>
        </p:txBody>
      </p:sp>
      <p:sp>
        <p:nvSpPr>
          <p:cNvPr id="65" name="Google Shape;65;p3"/>
          <p:cNvSpPr/>
          <p:nvPr/>
        </p:nvSpPr>
        <p:spPr>
          <a:xfrm>
            <a:off x="320040" y="4160520"/>
            <a:ext cx="8503920" cy="658368"/>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
          <p:cNvSpPr/>
          <p:nvPr/>
        </p:nvSpPr>
        <p:spPr>
          <a:xfrm>
            <a:off x="502920" y="4279392"/>
            <a:ext cx="8138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66666"/>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71" name="Shape 71"/>
        <p:cNvGrpSpPr/>
        <p:nvPr/>
      </p:nvGrpSpPr>
      <p:grpSpPr>
        <a:xfrm>
          <a:off x="0" y="0"/>
          <a:ext cx="0" cy="0"/>
          <a:chOff x="0" y="0"/>
          <a:chExt cx="0" cy="0"/>
        </a:xfrm>
      </p:grpSpPr>
      <p:sp>
        <p:nvSpPr>
          <p:cNvPr id="72" name="Google Shape;72;p4"/>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Network Topology</a:t>
            </a:r>
            <a:endParaRPr b="0" i="0" sz="4000" u="none" cap="none" strike="noStrike">
              <a:solidFill>
                <a:schemeClr val="dk1"/>
              </a:solidFill>
              <a:latin typeface="Calibri"/>
              <a:ea typeface="Calibri"/>
              <a:cs typeface="Calibri"/>
              <a:sym typeface="Calibri"/>
            </a:endParaRPr>
          </a:p>
        </p:txBody>
      </p:sp>
      <p:sp>
        <p:nvSpPr>
          <p:cNvPr id="73" name="Google Shape;73;p4"/>
          <p:cNvSpPr/>
          <p:nvPr/>
        </p:nvSpPr>
        <p:spPr>
          <a:xfrm>
            <a:off x="320040" y="1005840"/>
            <a:ext cx="8503920" cy="3474720"/>
          </a:xfrm>
          <a:prstGeom prst="rect">
            <a:avLst/>
          </a:prstGeom>
          <a:solidFill>
            <a:srgbClr val="FFFFFF"/>
          </a:solidFill>
          <a:ln cap="flat" cmpd="sng" w="12700">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4"/>
          <p:cNvSpPr/>
          <p:nvPr/>
        </p:nvSpPr>
        <p:spPr>
          <a:xfrm>
            <a:off x="429768" y="1115568"/>
            <a:ext cx="8284464" cy="3072384"/>
          </a:xfrm>
          <a:prstGeom prst="rect">
            <a:avLst/>
          </a:prstGeom>
          <a:solidFill>
            <a:srgbClr val="F5F9FC"/>
          </a:solidFill>
          <a:ln cap="flat" cmpd="sng" w="9525">
            <a:solidFill>
              <a:srgbClr val="D0E4EE"/>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
          <p:cNvSpPr/>
          <p:nvPr/>
        </p:nvSpPr>
        <p:spPr>
          <a:xfrm>
            <a:off x="429768" y="2432304"/>
            <a:ext cx="8284464"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E4EE"/>
              </a:buClr>
              <a:buSzPts val="1100"/>
              <a:buFont typeface="Calibri"/>
              <a:buNone/>
            </a:pPr>
            <a:r>
              <a:rPr b="0" i="1" lang="en-US" sz="1100" u="none" cap="none" strike="noStrike">
                <a:solidFill>
                  <a:srgbClr val="D0E4EE"/>
                </a:solidFill>
                <a:latin typeface="Calibri"/>
                <a:ea typeface="Calibri"/>
                <a:cs typeface="Calibri"/>
                <a:sym typeface="Calibri"/>
              </a:rPr>
              <a:t>[ Insert Screenshot ]</a:t>
            </a:r>
            <a:endParaRPr b="0" i="0" sz="1100" u="none" cap="none" strike="noStrike">
              <a:solidFill>
                <a:schemeClr val="dk1"/>
              </a:solidFill>
              <a:latin typeface="Calibri"/>
              <a:ea typeface="Calibri"/>
              <a:cs typeface="Calibri"/>
              <a:sym typeface="Calibri"/>
            </a:endParaRPr>
          </a:p>
        </p:txBody>
      </p:sp>
      <p:sp>
        <p:nvSpPr>
          <p:cNvPr id="76" name="Google Shape;76;p4"/>
          <p:cNvSpPr/>
          <p:nvPr/>
        </p:nvSpPr>
        <p:spPr>
          <a:xfrm>
            <a:off x="320040" y="4187952"/>
            <a:ext cx="8503920" cy="292608"/>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
          <p:cNvSpPr/>
          <p:nvPr/>
        </p:nvSpPr>
        <p:spPr>
          <a:xfrm>
            <a:off x="429768" y="4206240"/>
            <a:ext cx="828446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78" name="Google Shape;78;p4"/>
          <p:cNvSpPr/>
          <p:nvPr/>
        </p:nvSpPr>
        <p:spPr>
          <a:xfrm>
            <a:off x="320040" y="4572000"/>
            <a:ext cx="8503920" cy="50292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4"/>
          <p:cNvSpPr/>
          <p:nvPr/>
        </p:nvSpPr>
        <p:spPr>
          <a:xfrm>
            <a:off x="502920" y="4663440"/>
            <a:ext cx="81381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66666"/>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id="80" name="Google Shape;80;p4" title="Screenshot 2026-04-09 201044.png"/>
          <p:cNvPicPr preferRelativeResize="0"/>
          <p:nvPr/>
        </p:nvPicPr>
        <p:blipFill>
          <a:blip r:embed="rId3">
            <a:alphaModFix/>
          </a:blip>
          <a:stretch>
            <a:fillRect/>
          </a:stretch>
        </p:blipFill>
        <p:spPr>
          <a:xfrm>
            <a:off x="2400300" y="1641725"/>
            <a:ext cx="4446650" cy="180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85" name="Shape 85"/>
        <p:cNvGrpSpPr/>
        <p:nvPr/>
      </p:nvGrpSpPr>
      <p:grpSpPr>
        <a:xfrm>
          <a:off x="0" y="0"/>
          <a:ext cx="0" cy="0"/>
          <a:chOff x="0" y="0"/>
          <a:chExt cx="0" cy="0"/>
        </a:xfrm>
      </p:grpSpPr>
      <p:sp>
        <p:nvSpPr>
          <p:cNvPr id="86" name="Google Shape;86;g397241c1330_0_31"/>
          <p:cNvSpPr/>
          <p:nvPr/>
        </p:nvSpPr>
        <p:spPr>
          <a:xfrm>
            <a:off x="365760" y="201168"/>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Network Setup - Server0</a:t>
            </a:r>
            <a:endParaRPr b="0" i="0" sz="4000" u="none" cap="none" strike="noStrike">
              <a:solidFill>
                <a:schemeClr val="dk1"/>
              </a:solidFill>
              <a:latin typeface="Calibri"/>
              <a:ea typeface="Calibri"/>
              <a:cs typeface="Calibri"/>
              <a:sym typeface="Calibri"/>
            </a:endParaRPr>
          </a:p>
        </p:txBody>
      </p:sp>
      <p:sp>
        <p:nvSpPr>
          <p:cNvPr id="87" name="Google Shape;87;g397241c1330_0_31"/>
          <p:cNvSpPr/>
          <p:nvPr/>
        </p:nvSpPr>
        <p:spPr>
          <a:xfrm>
            <a:off x="320040" y="1005840"/>
            <a:ext cx="8503800" cy="3474600"/>
          </a:xfrm>
          <a:prstGeom prst="rect">
            <a:avLst/>
          </a:prstGeom>
          <a:solidFill>
            <a:srgbClr val="FFFFFF"/>
          </a:solidFill>
          <a:ln cap="flat" cmpd="sng" w="12700">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97241c1330_0_31"/>
          <p:cNvSpPr/>
          <p:nvPr/>
        </p:nvSpPr>
        <p:spPr>
          <a:xfrm>
            <a:off x="429768" y="1115568"/>
            <a:ext cx="8284500" cy="3072300"/>
          </a:xfrm>
          <a:prstGeom prst="rect">
            <a:avLst/>
          </a:prstGeom>
          <a:solidFill>
            <a:srgbClr val="F5F9FC"/>
          </a:solidFill>
          <a:ln cap="flat" cmpd="sng" w="9525">
            <a:solidFill>
              <a:srgbClr val="D0E4EE"/>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97241c1330_0_31"/>
          <p:cNvSpPr/>
          <p:nvPr/>
        </p:nvSpPr>
        <p:spPr>
          <a:xfrm>
            <a:off x="429768" y="2432304"/>
            <a:ext cx="82845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E4EE"/>
              </a:buClr>
              <a:buSzPts val="1100"/>
              <a:buFont typeface="Calibri"/>
              <a:buNone/>
            </a:pPr>
            <a:r>
              <a:rPr b="0" i="1" lang="en-US" sz="1100" u="none" cap="none" strike="noStrike">
                <a:solidFill>
                  <a:srgbClr val="D0E4EE"/>
                </a:solidFill>
                <a:latin typeface="Calibri"/>
                <a:ea typeface="Calibri"/>
                <a:cs typeface="Calibri"/>
                <a:sym typeface="Calibri"/>
              </a:rPr>
              <a:t>[ Insert Screenshot ]</a:t>
            </a:r>
            <a:endParaRPr b="0" i="0" sz="1100" u="none" cap="none" strike="noStrike">
              <a:solidFill>
                <a:schemeClr val="dk1"/>
              </a:solidFill>
              <a:latin typeface="Calibri"/>
              <a:ea typeface="Calibri"/>
              <a:cs typeface="Calibri"/>
              <a:sym typeface="Calibri"/>
            </a:endParaRPr>
          </a:p>
        </p:txBody>
      </p:sp>
      <p:sp>
        <p:nvSpPr>
          <p:cNvPr id="90" name="Google Shape;90;g397241c1330_0_31"/>
          <p:cNvSpPr/>
          <p:nvPr/>
        </p:nvSpPr>
        <p:spPr>
          <a:xfrm>
            <a:off x="320040" y="4187952"/>
            <a:ext cx="8503800" cy="2925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97241c1330_0_31"/>
          <p:cNvSpPr/>
          <p:nvPr/>
        </p:nvSpPr>
        <p:spPr>
          <a:xfrm>
            <a:off x="429768" y="4206240"/>
            <a:ext cx="82845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92" name="Google Shape;92;g397241c1330_0_31"/>
          <p:cNvSpPr/>
          <p:nvPr/>
        </p:nvSpPr>
        <p:spPr>
          <a:xfrm>
            <a:off x="320040" y="4572000"/>
            <a:ext cx="8503800" cy="50280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397241c1330_0_31"/>
          <p:cNvSpPr/>
          <p:nvPr/>
        </p:nvSpPr>
        <p:spPr>
          <a:xfrm>
            <a:off x="502920" y="4663440"/>
            <a:ext cx="8138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66666"/>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id="94" name="Google Shape;94;g397241c1330_0_31"/>
          <p:cNvPicPr preferRelativeResize="0"/>
          <p:nvPr/>
        </p:nvPicPr>
        <p:blipFill rotWithShape="1">
          <a:blip r:embed="rId3">
            <a:alphaModFix/>
          </a:blip>
          <a:srcRect b="0" l="0" r="0" t="0"/>
          <a:stretch/>
        </p:blipFill>
        <p:spPr>
          <a:xfrm>
            <a:off x="429775" y="834463"/>
            <a:ext cx="3682376" cy="3474575"/>
          </a:xfrm>
          <a:prstGeom prst="rect">
            <a:avLst/>
          </a:prstGeom>
          <a:noFill/>
          <a:ln>
            <a:noFill/>
          </a:ln>
        </p:spPr>
      </p:pic>
      <p:pic>
        <p:nvPicPr>
          <p:cNvPr id="95" name="Google Shape;95;g397241c1330_0_31"/>
          <p:cNvPicPr preferRelativeResize="0"/>
          <p:nvPr/>
        </p:nvPicPr>
        <p:blipFill rotWithShape="1">
          <a:blip r:embed="rId4">
            <a:alphaModFix/>
          </a:blip>
          <a:srcRect b="0" l="0" r="0" t="0"/>
          <a:stretch/>
        </p:blipFill>
        <p:spPr>
          <a:xfrm>
            <a:off x="4112150" y="886975"/>
            <a:ext cx="4666199" cy="34220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00" name="Shape 100"/>
        <p:cNvGrpSpPr/>
        <p:nvPr/>
      </p:nvGrpSpPr>
      <p:grpSpPr>
        <a:xfrm>
          <a:off x="0" y="0"/>
          <a:ext cx="0" cy="0"/>
          <a:chOff x="0" y="0"/>
          <a:chExt cx="0" cy="0"/>
        </a:xfrm>
      </p:grpSpPr>
      <p:sp>
        <p:nvSpPr>
          <p:cNvPr id="101" name="Google Shape;101;g397241c1330_0_46"/>
          <p:cNvSpPr/>
          <p:nvPr/>
        </p:nvSpPr>
        <p:spPr>
          <a:xfrm>
            <a:off x="365760" y="201168"/>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Network Setup - PC0</a:t>
            </a:r>
            <a:endParaRPr b="0" i="0" sz="4000" u="none" cap="none" strike="noStrike">
              <a:solidFill>
                <a:schemeClr val="dk1"/>
              </a:solidFill>
              <a:latin typeface="Calibri"/>
              <a:ea typeface="Calibri"/>
              <a:cs typeface="Calibri"/>
              <a:sym typeface="Calibri"/>
            </a:endParaRPr>
          </a:p>
        </p:txBody>
      </p:sp>
      <p:sp>
        <p:nvSpPr>
          <p:cNvPr id="102" name="Google Shape;102;g397241c1330_0_46"/>
          <p:cNvSpPr/>
          <p:nvPr/>
        </p:nvSpPr>
        <p:spPr>
          <a:xfrm>
            <a:off x="320040" y="1005840"/>
            <a:ext cx="8503800" cy="3474600"/>
          </a:xfrm>
          <a:prstGeom prst="rect">
            <a:avLst/>
          </a:prstGeom>
          <a:solidFill>
            <a:srgbClr val="FFFFFF"/>
          </a:solidFill>
          <a:ln cap="flat" cmpd="sng" w="12700">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97241c1330_0_46"/>
          <p:cNvSpPr/>
          <p:nvPr/>
        </p:nvSpPr>
        <p:spPr>
          <a:xfrm>
            <a:off x="429768" y="1115568"/>
            <a:ext cx="8284500" cy="3072300"/>
          </a:xfrm>
          <a:prstGeom prst="rect">
            <a:avLst/>
          </a:prstGeom>
          <a:solidFill>
            <a:srgbClr val="F5F9FC"/>
          </a:solidFill>
          <a:ln cap="flat" cmpd="sng" w="9525">
            <a:solidFill>
              <a:srgbClr val="D0E4EE"/>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97241c1330_0_46"/>
          <p:cNvSpPr/>
          <p:nvPr/>
        </p:nvSpPr>
        <p:spPr>
          <a:xfrm>
            <a:off x="429768" y="2432304"/>
            <a:ext cx="82845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E4EE"/>
              </a:buClr>
              <a:buSzPts val="1100"/>
              <a:buFont typeface="Calibri"/>
              <a:buNone/>
            </a:pPr>
            <a:r>
              <a:rPr b="0" i="1" lang="en-US" sz="1100" u="none" cap="none" strike="noStrike">
                <a:solidFill>
                  <a:srgbClr val="D0E4EE"/>
                </a:solidFill>
                <a:latin typeface="Calibri"/>
                <a:ea typeface="Calibri"/>
                <a:cs typeface="Calibri"/>
                <a:sym typeface="Calibri"/>
              </a:rPr>
              <a:t>[ Insert Screenshot ]</a:t>
            </a:r>
            <a:endParaRPr b="0" i="0" sz="1100" u="none" cap="none" strike="noStrike">
              <a:solidFill>
                <a:schemeClr val="dk1"/>
              </a:solidFill>
              <a:latin typeface="Calibri"/>
              <a:ea typeface="Calibri"/>
              <a:cs typeface="Calibri"/>
              <a:sym typeface="Calibri"/>
            </a:endParaRPr>
          </a:p>
        </p:txBody>
      </p:sp>
      <p:sp>
        <p:nvSpPr>
          <p:cNvPr id="105" name="Google Shape;105;g397241c1330_0_46"/>
          <p:cNvSpPr/>
          <p:nvPr/>
        </p:nvSpPr>
        <p:spPr>
          <a:xfrm>
            <a:off x="320040" y="4187952"/>
            <a:ext cx="8503800" cy="2925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97241c1330_0_46"/>
          <p:cNvSpPr/>
          <p:nvPr/>
        </p:nvSpPr>
        <p:spPr>
          <a:xfrm>
            <a:off x="429768" y="4206240"/>
            <a:ext cx="82845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07" name="Google Shape;107;g397241c1330_0_46"/>
          <p:cNvSpPr/>
          <p:nvPr/>
        </p:nvSpPr>
        <p:spPr>
          <a:xfrm>
            <a:off x="320040" y="4572000"/>
            <a:ext cx="8503800" cy="50280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97241c1330_0_46"/>
          <p:cNvSpPr/>
          <p:nvPr/>
        </p:nvSpPr>
        <p:spPr>
          <a:xfrm>
            <a:off x="502920" y="4663440"/>
            <a:ext cx="81381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66666"/>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id="109" name="Google Shape;109;g397241c1330_0_46"/>
          <p:cNvPicPr preferRelativeResize="0"/>
          <p:nvPr/>
        </p:nvPicPr>
        <p:blipFill rotWithShape="1">
          <a:blip r:embed="rId3">
            <a:alphaModFix/>
          </a:blip>
          <a:srcRect b="0" l="0" r="0" t="0"/>
          <a:stretch/>
        </p:blipFill>
        <p:spPr>
          <a:xfrm>
            <a:off x="2051488" y="1065350"/>
            <a:ext cx="5040925" cy="33282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14" name="Shape 114"/>
        <p:cNvGrpSpPr/>
        <p:nvPr/>
      </p:nvGrpSpPr>
      <p:grpSpPr>
        <a:xfrm>
          <a:off x="0" y="0"/>
          <a:ext cx="0" cy="0"/>
          <a:chOff x="0" y="0"/>
          <a:chExt cx="0" cy="0"/>
        </a:xfrm>
      </p:grpSpPr>
      <p:sp>
        <p:nvSpPr>
          <p:cNvPr id="115" name="Google Shape;115;p5"/>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Firewall Configuration</a:t>
            </a:r>
            <a:endParaRPr b="0" i="0" sz="4000" u="none" cap="none" strike="noStrike">
              <a:solidFill>
                <a:schemeClr val="dk1"/>
              </a:solidFill>
              <a:latin typeface="Calibri"/>
              <a:ea typeface="Calibri"/>
              <a:cs typeface="Calibri"/>
              <a:sym typeface="Calibri"/>
            </a:endParaRPr>
          </a:p>
        </p:txBody>
      </p:sp>
      <p:sp>
        <p:nvSpPr>
          <p:cNvPr id="116" name="Google Shape;116;p5"/>
          <p:cNvSpPr/>
          <p:nvPr/>
        </p:nvSpPr>
        <p:spPr>
          <a:xfrm>
            <a:off x="320050" y="1005850"/>
            <a:ext cx="2928600" cy="384060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
          <p:cNvSpPr/>
          <p:nvPr/>
        </p:nvSpPr>
        <p:spPr>
          <a:xfrm>
            <a:off x="320047" y="1005850"/>
            <a:ext cx="2928600" cy="3840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
          <p:cNvSpPr/>
          <p:nvPr/>
        </p:nvSpPr>
        <p:spPr>
          <a:xfrm>
            <a:off x="457200" y="1078992"/>
            <a:ext cx="3931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Interface Setup</a:t>
            </a:r>
            <a:endParaRPr b="0" i="0" sz="1300" u="none" cap="none" strike="noStrike">
              <a:solidFill>
                <a:schemeClr val="dk1"/>
              </a:solidFill>
              <a:latin typeface="Calibri"/>
              <a:ea typeface="Calibri"/>
              <a:cs typeface="Calibri"/>
              <a:sym typeface="Calibri"/>
            </a:endParaRPr>
          </a:p>
        </p:txBody>
      </p:sp>
      <p:sp>
        <p:nvSpPr>
          <p:cNvPr id="119" name="Google Shape;119;p5"/>
          <p:cNvSpPr/>
          <p:nvPr/>
        </p:nvSpPr>
        <p:spPr>
          <a:xfrm>
            <a:off x="457200" y="1463040"/>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rPr b="0" i="0" lang="en-US" sz="950" u="none" cap="none" strike="noStrike">
                <a:solidFill>
                  <a:srgbClr val="1A4A6B"/>
                </a:solidFill>
                <a:latin typeface="Courier New"/>
                <a:ea typeface="Courier New"/>
                <a:cs typeface="Courier New"/>
                <a:sym typeface="Courier New"/>
              </a:rPr>
              <a:t>interface FastEthernet0/0</a:t>
            </a:r>
            <a:endParaRPr b="0" i="0" sz="950" u="none" cap="none" strike="noStrike">
              <a:solidFill>
                <a:schemeClr val="dk1"/>
              </a:solidFill>
              <a:latin typeface="Calibri"/>
              <a:ea typeface="Calibri"/>
              <a:cs typeface="Calibri"/>
              <a:sym typeface="Calibri"/>
            </a:endParaRPr>
          </a:p>
        </p:txBody>
      </p:sp>
      <p:sp>
        <p:nvSpPr>
          <p:cNvPr id="120" name="Google Shape;120;p5"/>
          <p:cNvSpPr/>
          <p:nvPr/>
        </p:nvSpPr>
        <p:spPr>
          <a:xfrm>
            <a:off x="457200" y="1664208"/>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ip address 10.0.0.1</a:t>
            </a:r>
            <a:endParaRPr b="0" i="0" sz="950" u="none" cap="none" strike="noStrike">
              <a:solidFill>
                <a:schemeClr val="dk1"/>
              </a:solidFill>
              <a:latin typeface="Calibri"/>
              <a:ea typeface="Calibri"/>
              <a:cs typeface="Calibri"/>
              <a:sym typeface="Calibri"/>
            </a:endParaRPr>
          </a:p>
        </p:txBody>
      </p:sp>
      <p:sp>
        <p:nvSpPr>
          <p:cNvPr id="121" name="Google Shape;121;p5"/>
          <p:cNvSpPr/>
          <p:nvPr/>
        </p:nvSpPr>
        <p:spPr>
          <a:xfrm>
            <a:off x="457200" y="1865376"/>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255.255.255.0</a:t>
            </a:r>
            <a:endParaRPr b="0" i="0" sz="950" u="none" cap="none" strike="noStrike">
              <a:solidFill>
                <a:schemeClr val="dk1"/>
              </a:solidFill>
              <a:latin typeface="Calibri"/>
              <a:ea typeface="Calibri"/>
              <a:cs typeface="Calibri"/>
              <a:sym typeface="Calibri"/>
            </a:endParaRPr>
          </a:p>
        </p:txBody>
      </p:sp>
      <p:sp>
        <p:nvSpPr>
          <p:cNvPr id="122" name="Google Shape;122;p5"/>
          <p:cNvSpPr/>
          <p:nvPr/>
        </p:nvSpPr>
        <p:spPr>
          <a:xfrm>
            <a:off x="457200" y="2066544"/>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no shutdown</a:t>
            </a:r>
            <a:endParaRPr b="0" i="0" sz="950" u="none" cap="none" strike="noStrike">
              <a:solidFill>
                <a:schemeClr val="dk1"/>
              </a:solidFill>
              <a:latin typeface="Calibri"/>
              <a:ea typeface="Calibri"/>
              <a:cs typeface="Calibri"/>
              <a:sym typeface="Calibri"/>
            </a:endParaRPr>
          </a:p>
        </p:txBody>
      </p:sp>
      <p:sp>
        <p:nvSpPr>
          <p:cNvPr id="123" name="Google Shape;123;p5"/>
          <p:cNvSpPr/>
          <p:nvPr/>
        </p:nvSpPr>
        <p:spPr>
          <a:xfrm>
            <a:off x="457200" y="2267712"/>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exit</a:t>
            </a:r>
            <a:endParaRPr b="0" i="0" sz="950" u="none" cap="none" strike="noStrike">
              <a:solidFill>
                <a:schemeClr val="dk1"/>
              </a:solidFill>
              <a:latin typeface="Calibri"/>
              <a:ea typeface="Calibri"/>
              <a:cs typeface="Calibri"/>
              <a:sym typeface="Calibri"/>
            </a:endParaRPr>
          </a:p>
        </p:txBody>
      </p:sp>
      <p:sp>
        <p:nvSpPr>
          <p:cNvPr id="124" name="Google Shape;124;p5"/>
          <p:cNvSpPr/>
          <p:nvPr/>
        </p:nvSpPr>
        <p:spPr>
          <a:xfrm>
            <a:off x="457200" y="2468880"/>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25" name="Google Shape;125;p5"/>
          <p:cNvSpPr/>
          <p:nvPr/>
        </p:nvSpPr>
        <p:spPr>
          <a:xfrm>
            <a:off x="457200" y="2670048"/>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AB"/>
              </a:buClr>
              <a:buSzPts val="950"/>
              <a:buFont typeface="Courier New"/>
              <a:buNone/>
            </a:pPr>
            <a:r>
              <a:rPr b="1" i="0" lang="en-US" sz="950" u="none" cap="none" strike="noStrike">
                <a:solidFill>
                  <a:srgbClr val="2E86AB"/>
                </a:solidFill>
                <a:latin typeface="Courier New"/>
                <a:ea typeface="Courier New"/>
                <a:cs typeface="Courier New"/>
                <a:sym typeface="Courier New"/>
              </a:rPr>
              <a:t>Verify</a:t>
            </a:r>
            <a:endParaRPr b="0" i="0" sz="950" u="none" cap="none" strike="noStrike">
              <a:solidFill>
                <a:schemeClr val="dk1"/>
              </a:solidFill>
              <a:latin typeface="Calibri"/>
              <a:ea typeface="Calibri"/>
              <a:cs typeface="Calibri"/>
              <a:sym typeface="Calibri"/>
            </a:endParaRPr>
          </a:p>
        </p:txBody>
      </p:sp>
      <p:sp>
        <p:nvSpPr>
          <p:cNvPr id="126" name="Google Shape;126;p5"/>
          <p:cNvSpPr/>
          <p:nvPr/>
        </p:nvSpPr>
        <p:spPr>
          <a:xfrm>
            <a:off x="457200" y="2871216"/>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rPr b="0" i="0" lang="en-US" sz="950" u="none" cap="none" strike="noStrike">
                <a:solidFill>
                  <a:srgbClr val="1A4A6B"/>
                </a:solidFill>
                <a:latin typeface="Courier New"/>
                <a:ea typeface="Courier New"/>
                <a:cs typeface="Courier New"/>
                <a:sym typeface="Courier New"/>
              </a:rPr>
              <a:t>do show ip interface brief</a:t>
            </a:r>
            <a:endParaRPr b="0" i="0" sz="950" u="none" cap="none" strike="noStrike">
              <a:solidFill>
                <a:schemeClr val="dk1"/>
              </a:solidFill>
              <a:latin typeface="Calibri"/>
              <a:ea typeface="Calibri"/>
              <a:cs typeface="Calibri"/>
              <a:sym typeface="Calibri"/>
            </a:endParaRPr>
          </a:p>
        </p:txBody>
      </p:sp>
      <p:sp>
        <p:nvSpPr>
          <p:cNvPr id="127" name="Google Shape;127;p5"/>
          <p:cNvSpPr/>
          <p:nvPr/>
        </p:nvSpPr>
        <p:spPr>
          <a:xfrm>
            <a:off x="457200" y="3072384"/>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28" name="Google Shape;128;p5"/>
          <p:cNvSpPr/>
          <p:nvPr/>
        </p:nvSpPr>
        <p:spPr>
          <a:xfrm>
            <a:off x="457200" y="3273552"/>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Fa0/0  10.0.0.1</a:t>
            </a:r>
            <a:endParaRPr b="0" i="0" sz="950" u="none" cap="none" strike="noStrike">
              <a:solidFill>
                <a:schemeClr val="dk1"/>
              </a:solidFill>
              <a:latin typeface="Calibri"/>
              <a:ea typeface="Calibri"/>
              <a:cs typeface="Calibri"/>
              <a:sym typeface="Calibri"/>
            </a:endParaRPr>
          </a:p>
        </p:txBody>
      </p:sp>
      <p:sp>
        <p:nvSpPr>
          <p:cNvPr id="129" name="Google Shape;129;p5"/>
          <p:cNvSpPr/>
          <p:nvPr/>
        </p:nvSpPr>
        <p:spPr>
          <a:xfrm>
            <a:off x="457200" y="3474720"/>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YES manual  up  up</a:t>
            </a:r>
            <a:endParaRPr b="0" i="0" sz="950" u="none" cap="none" strike="noStrike">
              <a:solidFill>
                <a:schemeClr val="dk1"/>
              </a:solidFill>
              <a:latin typeface="Calibri"/>
              <a:ea typeface="Calibri"/>
              <a:cs typeface="Calibri"/>
              <a:sym typeface="Calibri"/>
            </a:endParaRPr>
          </a:p>
        </p:txBody>
      </p:sp>
      <p:sp>
        <p:nvSpPr>
          <p:cNvPr id="130" name="Google Shape;130;p5"/>
          <p:cNvSpPr/>
          <p:nvPr/>
        </p:nvSpPr>
        <p:spPr>
          <a:xfrm>
            <a:off x="4727448" y="2615184"/>
            <a:ext cx="3986784"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E4EE"/>
              </a:buClr>
              <a:buSzPts val="1100"/>
              <a:buFont typeface="Calibri"/>
              <a:buNone/>
            </a:pPr>
            <a:r>
              <a:rPr b="0" i="1" lang="en-US" sz="1100" u="none" cap="none" strike="noStrike">
                <a:solidFill>
                  <a:srgbClr val="D0E4EE"/>
                </a:solidFill>
                <a:latin typeface="Calibri"/>
                <a:ea typeface="Calibri"/>
                <a:cs typeface="Calibri"/>
                <a:sym typeface="Calibri"/>
              </a:rPr>
              <a:t>[ Insert Screenshot ]</a:t>
            </a:r>
            <a:endParaRPr b="0" i="0" sz="1100" u="none" cap="none" strike="noStrike">
              <a:solidFill>
                <a:schemeClr val="dk1"/>
              </a:solidFill>
              <a:latin typeface="Calibri"/>
              <a:ea typeface="Calibri"/>
              <a:cs typeface="Calibri"/>
              <a:sym typeface="Calibri"/>
            </a:endParaRPr>
          </a:p>
        </p:txBody>
      </p:sp>
      <p:sp>
        <p:nvSpPr>
          <p:cNvPr id="131" name="Google Shape;131;p5"/>
          <p:cNvSpPr/>
          <p:nvPr/>
        </p:nvSpPr>
        <p:spPr>
          <a:xfrm>
            <a:off x="4617720" y="4553712"/>
            <a:ext cx="4206240" cy="292608"/>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
          <p:cNvSpPr/>
          <p:nvPr/>
        </p:nvSpPr>
        <p:spPr>
          <a:xfrm>
            <a:off x="4727448" y="4572000"/>
            <a:ext cx="39867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show ip interface brief — Fa0/0 and Fa0/1 both up/up</a:t>
            </a:r>
            <a:endParaRPr b="0" i="0" sz="950" u="none" cap="none" strike="noStrike">
              <a:solidFill>
                <a:schemeClr val="dk1"/>
              </a:solidFill>
              <a:latin typeface="Calibri"/>
              <a:ea typeface="Calibri"/>
              <a:cs typeface="Calibri"/>
              <a:sym typeface="Calibri"/>
            </a:endParaRPr>
          </a:p>
        </p:txBody>
      </p:sp>
      <p:pic>
        <p:nvPicPr>
          <p:cNvPr id="133" name="Google Shape;133;p5"/>
          <p:cNvPicPr preferRelativeResize="0"/>
          <p:nvPr/>
        </p:nvPicPr>
        <p:blipFill rotWithShape="1">
          <a:blip r:embed="rId3">
            <a:alphaModFix/>
          </a:blip>
          <a:srcRect b="0" l="0" r="0" t="0"/>
          <a:stretch/>
        </p:blipFill>
        <p:spPr>
          <a:xfrm>
            <a:off x="319983" y="1152475"/>
            <a:ext cx="8520601" cy="350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38" name="Shape 138"/>
        <p:cNvGrpSpPr/>
        <p:nvPr/>
      </p:nvGrpSpPr>
      <p:grpSpPr>
        <a:xfrm>
          <a:off x="0" y="0"/>
          <a:ext cx="0" cy="0"/>
          <a:chOff x="0" y="0"/>
          <a:chExt cx="0" cy="0"/>
        </a:xfrm>
      </p:grpSpPr>
      <p:sp>
        <p:nvSpPr>
          <p:cNvPr id="139" name="Google Shape;139;p6"/>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ACL Configuration</a:t>
            </a:r>
            <a:endParaRPr b="0" i="0" sz="4000" u="none" cap="none" strike="noStrike">
              <a:solidFill>
                <a:schemeClr val="dk1"/>
              </a:solidFill>
              <a:latin typeface="Calibri"/>
              <a:ea typeface="Calibri"/>
              <a:cs typeface="Calibri"/>
              <a:sym typeface="Calibri"/>
            </a:endParaRPr>
          </a:p>
        </p:txBody>
      </p:sp>
      <p:sp>
        <p:nvSpPr>
          <p:cNvPr id="140" name="Google Shape;140;p6"/>
          <p:cNvSpPr/>
          <p:nvPr/>
        </p:nvSpPr>
        <p:spPr>
          <a:xfrm>
            <a:off x="320040" y="1005840"/>
            <a:ext cx="4206240" cy="384048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6"/>
          <p:cNvSpPr/>
          <p:nvPr/>
        </p:nvSpPr>
        <p:spPr>
          <a:xfrm>
            <a:off x="320040" y="1005840"/>
            <a:ext cx="4206240" cy="384048"/>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
          <p:cNvSpPr/>
          <p:nvPr/>
        </p:nvSpPr>
        <p:spPr>
          <a:xfrm>
            <a:off x="457200" y="1078992"/>
            <a:ext cx="3931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FIREWALL_POLICY Rules</a:t>
            </a:r>
            <a:endParaRPr b="0" i="0" sz="1300" u="none" cap="none" strike="noStrike">
              <a:solidFill>
                <a:schemeClr val="dk1"/>
              </a:solidFill>
              <a:latin typeface="Calibri"/>
              <a:ea typeface="Calibri"/>
              <a:cs typeface="Calibri"/>
              <a:sym typeface="Calibri"/>
            </a:endParaRPr>
          </a:p>
        </p:txBody>
      </p:sp>
      <p:sp>
        <p:nvSpPr>
          <p:cNvPr id="143" name="Google Shape;143;p6"/>
          <p:cNvSpPr/>
          <p:nvPr/>
        </p:nvSpPr>
        <p:spPr>
          <a:xfrm>
            <a:off x="457200" y="1463040"/>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AB"/>
              </a:buClr>
              <a:buSzPts val="950"/>
              <a:buFont typeface="Courier New"/>
              <a:buNone/>
            </a:pPr>
            <a:r>
              <a:rPr b="1" i="0" lang="en-US" sz="950" u="none" cap="none" strike="noStrike">
                <a:solidFill>
                  <a:srgbClr val="2E86AB"/>
                </a:solidFill>
                <a:latin typeface="Courier New"/>
                <a:ea typeface="Courier New"/>
                <a:cs typeface="Courier New"/>
                <a:sym typeface="Courier New"/>
              </a:rPr>
              <a:t>Define and apply the ACL</a:t>
            </a:r>
            <a:endParaRPr b="0" i="0" sz="950" u="none" cap="none" strike="noStrike">
              <a:solidFill>
                <a:schemeClr val="dk1"/>
              </a:solidFill>
              <a:latin typeface="Calibri"/>
              <a:ea typeface="Calibri"/>
              <a:cs typeface="Calibri"/>
              <a:sym typeface="Calibri"/>
            </a:endParaRPr>
          </a:p>
        </p:txBody>
      </p:sp>
      <p:sp>
        <p:nvSpPr>
          <p:cNvPr id="144" name="Google Shape;144;p6"/>
          <p:cNvSpPr/>
          <p:nvPr/>
        </p:nvSpPr>
        <p:spPr>
          <a:xfrm>
            <a:off x="457200" y="1664208"/>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rPr b="0" i="0" lang="en-US" sz="950" u="none" cap="none" strike="noStrike">
                <a:solidFill>
                  <a:srgbClr val="1A4A6B"/>
                </a:solidFill>
                <a:latin typeface="Courier New"/>
                <a:ea typeface="Courier New"/>
                <a:cs typeface="Courier New"/>
                <a:sym typeface="Courier New"/>
              </a:rPr>
              <a:t>ip access-list extended FIREWALL_POLICY</a:t>
            </a:r>
            <a:endParaRPr b="0" i="0" sz="950" u="none" cap="none" strike="noStrike">
              <a:solidFill>
                <a:schemeClr val="dk1"/>
              </a:solidFill>
              <a:latin typeface="Calibri"/>
              <a:ea typeface="Calibri"/>
              <a:cs typeface="Calibri"/>
              <a:sym typeface="Calibri"/>
            </a:endParaRPr>
          </a:p>
        </p:txBody>
      </p:sp>
      <p:sp>
        <p:nvSpPr>
          <p:cNvPr id="145" name="Google Shape;145;p6"/>
          <p:cNvSpPr/>
          <p:nvPr/>
        </p:nvSpPr>
        <p:spPr>
          <a:xfrm>
            <a:off x="457200" y="1865376"/>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permit tcp any any eq 80</a:t>
            </a:r>
            <a:endParaRPr b="0" i="0" sz="950" u="none" cap="none" strike="noStrike">
              <a:solidFill>
                <a:schemeClr val="dk1"/>
              </a:solidFill>
              <a:latin typeface="Calibri"/>
              <a:ea typeface="Calibri"/>
              <a:cs typeface="Calibri"/>
              <a:sym typeface="Calibri"/>
            </a:endParaRPr>
          </a:p>
        </p:txBody>
      </p:sp>
      <p:sp>
        <p:nvSpPr>
          <p:cNvPr id="146" name="Google Shape;146;p6"/>
          <p:cNvSpPr/>
          <p:nvPr/>
        </p:nvSpPr>
        <p:spPr>
          <a:xfrm>
            <a:off x="457200" y="2066544"/>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47" name="Google Shape;147;p6"/>
          <p:cNvSpPr/>
          <p:nvPr/>
        </p:nvSpPr>
        <p:spPr>
          <a:xfrm>
            <a:off x="457200" y="2267712"/>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AB"/>
              </a:buClr>
              <a:buSzPts val="950"/>
              <a:buFont typeface="Courier New"/>
              <a:buNone/>
            </a:pPr>
            <a:r>
              <a:rPr b="1" i="0" lang="en-US" sz="950" u="none" cap="none" strike="noStrike">
                <a:solidFill>
                  <a:srgbClr val="2E86AB"/>
                </a:solidFill>
                <a:latin typeface="Courier New"/>
                <a:ea typeface="Courier New"/>
                <a:cs typeface="Courier New"/>
                <a:sym typeface="Courier New"/>
              </a:rPr>
              <a:t>  permit tcp any any eq 443</a:t>
            </a:r>
            <a:endParaRPr b="0" i="0" sz="950" u="none" cap="none" strike="noStrike">
              <a:solidFill>
                <a:schemeClr val="dk1"/>
              </a:solidFill>
              <a:latin typeface="Calibri"/>
              <a:ea typeface="Calibri"/>
              <a:cs typeface="Calibri"/>
              <a:sym typeface="Calibri"/>
            </a:endParaRPr>
          </a:p>
        </p:txBody>
      </p:sp>
      <p:sp>
        <p:nvSpPr>
          <p:cNvPr id="148" name="Google Shape;148;p6"/>
          <p:cNvSpPr/>
          <p:nvPr/>
        </p:nvSpPr>
        <p:spPr>
          <a:xfrm>
            <a:off x="457200" y="2468880"/>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rPr b="0" i="0" lang="en-US" sz="950" u="none" cap="none" strike="noStrike">
                <a:solidFill>
                  <a:srgbClr val="1A4A6B"/>
                </a:solidFill>
                <a:latin typeface="Courier New"/>
                <a:ea typeface="Courier New"/>
                <a:cs typeface="Courier New"/>
                <a:sym typeface="Courier New"/>
              </a:rPr>
              <a:t>  permit ip any any</a:t>
            </a:r>
            <a:endParaRPr b="0" i="0" sz="950" u="none" cap="none" strike="noStrike">
              <a:solidFill>
                <a:schemeClr val="dk1"/>
              </a:solidFill>
              <a:latin typeface="Calibri"/>
              <a:ea typeface="Calibri"/>
              <a:cs typeface="Calibri"/>
              <a:sym typeface="Calibri"/>
            </a:endParaRPr>
          </a:p>
        </p:txBody>
      </p:sp>
      <p:sp>
        <p:nvSpPr>
          <p:cNvPr id="149" name="Google Shape;149;p6"/>
          <p:cNvSpPr/>
          <p:nvPr/>
        </p:nvSpPr>
        <p:spPr>
          <a:xfrm>
            <a:off x="457200" y="2670048"/>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deny tcp any any eq 22</a:t>
            </a:r>
            <a:endParaRPr b="0" i="0" sz="950" u="none" cap="none" strike="noStrike">
              <a:solidFill>
                <a:schemeClr val="dk1"/>
              </a:solidFill>
              <a:latin typeface="Calibri"/>
              <a:ea typeface="Calibri"/>
              <a:cs typeface="Calibri"/>
              <a:sym typeface="Calibri"/>
            </a:endParaRPr>
          </a:p>
        </p:txBody>
      </p:sp>
      <p:sp>
        <p:nvSpPr>
          <p:cNvPr id="150" name="Google Shape;150;p6"/>
          <p:cNvSpPr/>
          <p:nvPr/>
        </p:nvSpPr>
        <p:spPr>
          <a:xfrm>
            <a:off x="457200" y="2871216"/>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51" name="Google Shape;151;p6"/>
          <p:cNvSpPr/>
          <p:nvPr/>
        </p:nvSpPr>
        <p:spPr>
          <a:xfrm>
            <a:off x="457200" y="3072384"/>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52" name="Google Shape;152;p6"/>
          <p:cNvSpPr/>
          <p:nvPr/>
        </p:nvSpPr>
        <p:spPr>
          <a:xfrm>
            <a:off x="457200" y="3273552"/>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53" name="Google Shape;153;p6"/>
          <p:cNvSpPr/>
          <p:nvPr/>
        </p:nvSpPr>
        <p:spPr>
          <a:xfrm>
            <a:off x="457200" y="3474720"/>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54" name="Google Shape;154;p6"/>
          <p:cNvSpPr/>
          <p:nvPr/>
        </p:nvSpPr>
        <p:spPr>
          <a:xfrm>
            <a:off x="457200" y="3675888"/>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55" name="Google Shape;155;p6"/>
          <p:cNvSpPr/>
          <p:nvPr/>
        </p:nvSpPr>
        <p:spPr>
          <a:xfrm>
            <a:off x="457200" y="3877056"/>
            <a:ext cx="3931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56" name="Google Shape;156;p6"/>
          <p:cNvSpPr/>
          <p:nvPr/>
        </p:nvSpPr>
        <p:spPr>
          <a:xfrm>
            <a:off x="4617720" y="1005840"/>
            <a:ext cx="4206240" cy="384048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
          <p:cNvSpPr/>
          <p:nvPr/>
        </p:nvSpPr>
        <p:spPr>
          <a:xfrm>
            <a:off x="4617720" y="1005840"/>
            <a:ext cx="4206240" cy="384048"/>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6"/>
          <p:cNvSpPr/>
          <p:nvPr/>
        </p:nvSpPr>
        <p:spPr>
          <a:xfrm>
            <a:off x="4754880" y="1078992"/>
            <a:ext cx="3931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ACL Rule Summary</a:t>
            </a:r>
            <a:endParaRPr b="0" i="0" sz="1300" u="none" cap="none" strike="noStrike">
              <a:solidFill>
                <a:schemeClr val="dk1"/>
              </a:solidFill>
              <a:latin typeface="Calibri"/>
              <a:ea typeface="Calibri"/>
              <a:cs typeface="Calibri"/>
              <a:sym typeface="Calibri"/>
            </a:endParaRPr>
          </a:p>
        </p:txBody>
      </p:sp>
      <p:sp>
        <p:nvSpPr>
          <p:cNvPr id="159" name="Google Shape;159;p6"/>
          <p:cNvSpPr/>
          <p:nvPr/>
        </p:nvSpPr>
        <p:spPr>
          <a:xfrm>
            <a:off x="4617720" y="1508760"/>
            <a:ext cx="4206240" cy="493776"/>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6"/>
          <p:cNvSpPr/>
          <p:nvPr/>
        </p:nvSpPr>
        <p:spPr>
          <a:xfrm>
            <a:off x="4754880" y="1627632"/>
            <a:ext cx="17373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050"/>
              <a:buFont typeface="Calibri"/>
              <a:buNone/>
            </a:pPr>
            <a:r>
              <a:rPr b="1" i="0" lang="en-US" sz="1050" u="none" cap="none" strike="noStrike">
                <a:solidFill>
                  <a:srgbClr val="1A4A6B"/>
                </a:solidFill>
                <a:latin typeface="Calibri"/>
                <a:ea typeface="Calibri"/>
                <a:cs typeface="Calibri"/>
                <a:sym typeface="Calibri"/>
              </a:rPr>
              <a:t>HTTP (80)</a:t>
            </a:r>
            <a:endParaRPr b="0" i="0" sz="1050" u="none" cap="none" strike="noStrike">
              <a:solidFill>
                <a:schemeClr val="dk1"/>
              </a:solidFill>
              <a:latin typeface="Calibri"/>
              <a:ea typeface="Calibri"/>
              <a:cs typeface="Calibri"/>
              <a:sym typeface="Calibri"/>
            </a:endParaRPr>
          </a:p>
        </p:txBody>
      </p:sp>
      <p:sp>
        <p:nvSpPr>
          <p:cNvPr id="161" name="Google Shape;161;p6"/>
          <p:cNvSpPr/>
          <p:nvPr/>
        </p:nvSpPr>
        <p:spPr>
          <a:xfrm>
            <a:off x="6537960" y="1627632"/>
            <a:ext cx="21488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050"/>
              <a:buFont typeface="Calibri"/>
              <a:buNone/>
            </a:pPr>
            <a:r>
              <a:rPr b="0" i="0" lang="en-US" sz="1050" u="none" cap="none" strike="noStrike">
                <a:solidFill>
                  <a:srgbClr val="333333"/>
                </a:solidFill>
                <a:latin typeface="Calibri"/>
                <a:ea typeface="Calibri"/>
                <a:cs typeface="Calibri"/>
                <a:sym typeface="Calibri"/>
              </a:rPr>
              <a:t>permit</a:t>
            </a:r>
            <a:endParaRPr b="0" i="0" sz="1050" u="none" cap="none" strike="noStrike">
              <a:solidFill>
                <a:schemeClr val="dk1"/>
              </a:solidFill>
              <a:latin typeface="Calibri"/>
              <a:ea typeface="Calibri"/>
              <a:cs typeface="Calibri"/>
              <a:sym typeface="Calibri"/>
            </a:endParaRPr>
          </a:p>
        </p:txBody>
      </p:sp>
      <p:sp>
        <p:nvSpPr>
          <p:cNvPr id="162" name="Google Shape;162;p6"/>
          <p:cNvSpPr/>
          <p:nvPr/>
        </p:nvSpPr>
        <p:spPr>
          <a:xfrm>
            <a:off x="4617720" y="2002536"/>
            <a:ext cx="4206240" cy="493776"/>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
          <p:cNvSpPr/>
          <p:nvPr/>
        </p:nvSpPr>
        <p:spPr>
          <a:xfrm>
            <a:off x="4754880" y="2121408"/>
            <a:ext cx="17373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050"/>
              <a:buFont typeface="Calibri"/>
              <a:buNone/>
            </a:pPr>
            <a:r>
              <a:rPr b="1" i="0" lang="en-US" sz="1050" u="none" cap="none" strike="noStrike">
                <a:solidFill>
                  <a:srgbClr val="1A4A6B"/>
                </a:solidFill>
                <a:latin typeface="Calibri"/>
                <a:ea typeface="Calibri"/>
                <a:cs typeface="Calibri"/>
                <a:sym typeface="Calibri"/>
              </a:rPr>
              <a:t>HTTPS (443)</a:t>
            </a:r>
            <a:endParaRPr b="0" i="0" sz="1050" u="none" cap="none" strike="noStrike">
              <a:solidFill>
                <a:schemeClr val="dk1"/>
              </a:solidFill>
              <a:latin typeface="Calibri"/>
              <a:ea typeface="Calibri"/>
              <a:cs typeface="Calibri"/>
              <a:sym typeface="Calibri"/>
            </a:endParaRPr>
          </a:p>
        </p:txBody>
      </p:sp>
      <p:sp>
        <p:nvSpPr>
          <p:cNvPr id="164" name="Google Shape;164;p6"/>
          <p:cNvSpPr/>
          <p:nvPr/>
        </p:nvSpPr>
        <p:spPr>
          <a:xfrm>
            <a:off x="6537960" y="2121408"/>
            <a:ext cx="21488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050"/>
              <a:buFont typeface="Calibri"/>
              <a:buNone/>
            </a:pPr>
            <a:r>
              <a:rPr b="0" i="0" lang="en-US" sz="1050" u="none" cap="none" strike="noStrike">
                <a:solidFill>
                  <a:srgbClr val="333333"/>
                </a:solidFill>
                <a:latin typeface="Calibri"/>
                <a:ea typeface="Calibri"/>
                <a:cs typeface="Calibri"/>
                <a:sym typeface="Calibri"/>
              </a:rPr>
              <a:t>permit</a:t>
            </a:r>
            <a:endParaRPr b="0" i="0" sz="1050" u="none" cap="none" strike="noStrike">
              <a:solidFill>
                <a:schemeClr val="dk1"/>
              </a:solidFill>
              <a:latin typeface="Calibri"/>
              <a:ea typeface="Calibri"/>
              <a:cs typeface="Calibri"/>
              <a:sym typeface="Calibri"/>
            </a:endParaRPr>
          </a:p>
        </p:txBody>
      </p:sp>
      <p:sp>
        <p:nvSpPr>
          <p:cNvPr id="165" name="Google Shape;165;p6"/>
          <p:cNvSpPr/>
          <p:nvPr/>
        </p:nvSpPr>
        <p:spPr>
          <a:xfrm>
            <a:off x="4617720" y="2990088"/>
            <a:ext cx="4206240" cy="493776"/>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6"/>
          <p:cNvSpPr/>
          <p:nvPr/>
        </p:nvSpPr>
        <p:spPr>
          <a:xfrm>
            <a:off x="4754875" y="3108950"/>
            <a:ext cx="17373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050"/>
              <a:buFont typeface="Calibri"/>
              <a:buNone/>
            </a:pPr>
            <a:r>
              <a:rPr b="1" i="0" lang="en-US" sz="1050" u="none" cap="none" strike="noStrike">
                <a:solidFill>
                  <a:srgbClr val="1A4A6B"/>
                </a:solidFill>
                <a:latin typeface="Calibri"/>
                <a:ea typeface="Calibri"/>
                <a:cs typeface="Calibri"/>
                <a:sym typeface="Calibri"/>
              </a:rPr>
              <a:t>SSH (22)</a:t>
            </a:r>
            <a:endParaRPr b="0" i="0" sz="1050" u="none" cap="none" strike="noStrike">
              <a:solidFill>
                <a:schemeClr val="dk1"/>
              </a:solidFill>
              <a:latin typeface="Calibri"/>
              <a:ea typeface="Calibri"/>
              <a:cs typeface="Calibri"/>
              <a:sym typeface="Calibri"/>
            </a:endParaRPr>
          </a:p>
        </p:txBody>
      </p:sp>
      <p:sp>
        <p:nvSpPr>
          <p:cNvPr id="167" name="Google Shape;167;p6"/>
          <p:cNvSpPr/>
          <p:nvPr/>
        </p:nvSpPr>
        <p:spPr>
          <a:xfrm>
            <a:off x="6537960" y="3108960"/>
            <a:ext cx="21488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050"/>
              <a:buFont typeface="Calibri"/>
              <a:buNone/>
            </a:pPr>
            <a:r>
              <a:rPr b="0" i="0" lang="en-US" sz="1050" u="none" cap="none" strike="noStrike">
                <a:solidFill>
                  <a:srgbClr val="333333"/>
                </a:solidFill>
                <a:latin typeface="Calibri"/>
                <a:ea typeface="Calibri"/>
                <a:cs typeface="Calibri"/>
                <a:sym typeface="Calibri"/>
              </a:rPr>
              <a:t>deny</a:t>
            </a:r>
            <a:endParaRPr b="0" i="0" sz="1050" u="none" cap="none" strike="noStrike">
              <a:solidFill>
                <a:schemeClr val="dk1"/>
              </a:solidFill>
              <a:latin typeface="Calibri"/>
              <a:ea typeface="Calibri"/>
              <a:cs typeface="Calibri"/>
              <a:sym typeface="Calibri"/>
            </a:endParaRPr>
          </a:p>
        </p:txBody>
      </p:sp>
      <p:sp>
        <p:nvSpPr>
          <p:cNvPr id="168" name="Google Shape;168;p6"/>
          <p:cNvSpPr/>
          <p:nvPr/>
        </p:nvSpPr>
        <p:spPr>
          <a:xfrm>
            <a:off x="4617720" y="3483864"/>
            <a:ext cx="4206240" cy="493776"/>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6"/>
          <p:cNvSpPr/>
          <p:nvPr/>
        </p:nvSpPr>
        <p:spPr>
          <a:xfrm>
            <a:off x="4754880" y="3602736"/>
            <a:ext cx="17373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050"/>
              <a:buFont typeface="Calibri"/>
              <a:buNone/>
            </a:pPr>
            <a:r>
              <a:rPr b="1" i="0" lang="en-US" sz="1050" u="none" cap="none" strike="noStrike">
                <a:solidFill>
                  <a:srgbClr val="1A4A6B"/>
                </a:solidFill>
                <a:latin typeface="Calibri"/>
                <a:ea typeface="Calibri"/>
                <a:cs typeface="Calibri"/>
                <a:sym typeface="Calibri"/>
              </a:rPr>
              <a:t>Telnet (23)</a:t>
            </a:r>
            <a:endParaRPr b="0" i="0" sz="1050" u="none" cap="none" strike="noStrike">
              <a:solidFill>
                <a:schemeClr val="dk1"/>
              </a:solidFill>
              <a:latin typeface="Calibri"/>
              <a:ea typeface="Calibri"/>
              <a:cs typeface="Calibri"/>
              <a:sym typeface="Calibri"/>
            </a:endParaRPr>
          </a:p>
        </p:txBody>
      </p:sp>
      <p:sp>
        <p:nvSpPr>
          <p:cNvPr id="170" name="Google Shape;170;p6"/>
          <p:cNvSpPr/>
          <p:nvPr/>
        </p:nvSpPr>
        <p:spPr>
          <a:xfrm>
            <a:off x="6537960" y="3602736"/>
            <a:ext cx="21488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050"/>
              <a:buFont typeface="Calibri"/>
              <a:buNone/>
            </a:pPr>
            <a:r>
              <a:rPr b="0" i="0" lang="en-US" sz="1050" u="none" cap="none" strike="noStrike">
                <a:solidFill>
                  <a:srgbClr val="333333"/>
                </a:solidFill>
                <a:latin typeface="Calibri"/>
                <a:ea typeface="Calibri"/>
                <a:cs typeface="Calibri"/>
                <a:sym typeface="Calibri"/>
              </a:rPr>
              <a:t>deny</a:t>
            </a:r>
            <a:endParaRPr b="0" i="0" sz="1050" u="none" cap="none" strike="noStrike">
              <a:solidFill>
                <a:schemeClr val="dk1"/>
              </a:solidFill>
              <a:latin typeface="Calibri"/>
              <a:ea typeface="Calibri"/>
              <a:cs typeface="Calibri"/>
              <a:sym typeface="Calibri"/>
            </a:endParaRPr>
          </a:p>
        </p:txBody>
      </p:sp>
      <p:sp>
        <p:nvSpPr>
          <p:cNvPr id="171" name="Google Shape;171;p6"/>
          <p:cNvSpPr/>
          <p:nvPr/>
        </p:nvSpPr>
        <p:spPr>
          <a:xfrm>
            <a:off x="4617720" y="3977640"/>
            <a:ext cx="4206240" cy="493776"/>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6"/>
          <p:cNvSpPr/>
          <p:nvPr/>
        </p:nvSpPr>
        <p:spPr>
          <a:xfrm>
            <a:off x="4754880" y="4096512"/>
            <a:ext cx="17373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1050"/>
              <a:buFont typeface="Calibri"/>
              <a:buNone/>
            </a:pPr>
            <a:r>
              <a:rPr b="1" i="0" lang="en-US" sz="1050" u="none" cap="none" strike="noStrike">
                <a:solidFill>
                  <a:srgbClr val="1A4A6B"/>
                </a:solidFill>
                <a:latin typeface="Calibri"/>
                <a:ea typeface="Calibri"/>
                <a:cs typeface="Calibri"/>
                <a:sym typeface="Calibri"/>
              </a:rPr>
              <a:t>All other IP</a:t>
            </a:r>
            <a:endParaRPr b="0" i="0" sz="1050" u="none" cap="none" strike="noStrike">
              <a:solidFill>
                <a:schemeClr val="dk1"/>
              </a:solidFill>
              <a:latin typeface="Calibri"/>
              <a:ea typeface="Calibri"/>
              <a:cs typeface="Calibri"/>
              <a:sym typeface="Calibri"/>
            </a:endParaRPr>
          </a:p>
        </p:txBody>
      </p:sp>
      <p:sp>
        <p:nvSpPr>
          <p:cNvPr id="173" name="Google Shape;173;p6"/>
          <p:cNvSpPr/>
          <p:nvPr/>
        </p:nvSpPr>
        <p:spPr>
          <a:xfrm>
            <a:off x="6537960" y="4096512"/>
            <a:ext cx="21488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050"/>
              <a:buFont typeface="Calibri"/>
              <a:buNone/>
            </a:pPr>
            <a:r>
              <a:rPr b="0" i="0" lang="en-US" sz="1050" u="none" cap="none" strike="noStrike">
                <a:solidFill>
                  <a:srgbClr val="333333"/>
                </a:solidFill>
                <a:latin typeface="Calibri"/>
                <a:ea typeface="Calibri"/>
                <a:cs typeface="Calibri"/>
                <a:sym typeface="Calibri"/>
              </a:rPr>
              <a:t>permit</a:t>
            </a:r>
            <a:endParaRPr b="0" i="0" sz="1050" u="none" cap="none" strike="noStrike">
              <a:solidFill>
                <a:schemeClr val="dk1"/>
              </a:solidFill>
              <a:latin typeface="Calibri"/>
              <a:ea typeface="Calibri"/>
              <a:cs typeface="Calibri"/>
              <a:sym typeface="Calibri"/>
            </a:endParaRPr>
          </a:p>
        </p:txBody>
      </p:sp>
      <p:pic>
        <p:nvPicPr>
          <p:cNvPr id="174" name="Google Shape;174;p6"/>
          <p:cNvPicPr preferRelativeResize="0"/>
          <p:nvPr/>
        </p:nvPicPr>
        <p:blipFill rotWithShape="1">
          <a:blip r:embed="rId3">
            <a:alphaModFix/>
          </a:blip>
          <a:srcRect b="0" l="0" r="0" t="0"/>
          <a:stretch/>
        </p:blipFill>
        <p:spPr>
          <a:xfrm>
            <a:off x="320050" y="1508775"/>
            <a:ext cx="4069075" cy="314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179" name="Shape 179"/>
        <p:cNvGrpSpPr/>
        <p:nvPr/>
      </p:nvGrpSpPr>
      <p:grpSpPr>
        <a:xfrm>
          <a:off x="0" y="0"/>
          <a:ext cx="0" cy="0"/>
          <a:chOff x="0" y="0"/>
          <a:chExt cx="0" cy="0"/>
        </a:xfrm>
      </p:grpSpPr>
      <p:sp>
        <p:nvSpPr>
          <p:cNvPr id="180" name="Google Shape;180;g3973c56dd05_0_6"/>
          <p:cNvSpPr/>
          <p:nvPr/>
        </p:nvSpPr>
        <p:spPr>
          <a:xfrm>
            <a:off x="365760" y="201168"/>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ACL </a:t>
            </a:r>
            <a:r>
              <a:rPr b="1" lang="en-US" sz="4000">
                <a:solidFill>
                  <a:srgbClr val="1A4A6B"/>
                </a:solidFill>
                <a:latin typeface="Calibri"/>
                <a:ea typeface="Calibri"/>
                <a:cs typeface="Calibri"/>
                <a:sym typeface="Calibri"/>
              </a:rPr>
              <a:t>rule verification</a:t>
            </a:r>
            <a:endParaRPr b="0" i="0" sz="4000" u="none" cap="none" strike="noStrike">
              <a:solidFill>
                <a:schemeClr val="dk1"/>
              </a:solidFill>
              <a:latin typeface="Calibri"/>
              <a:ea typeface="Calibri"/>
              <a:cs typeface="Calibri"/>
              <a:sym typeface="Calibri"/>
            </a:endParaRPr>
          </a:p>
        </p:txBody>
      </p:sp>
      <p:sp>
        <p:nvSpPr>
          <p:cNvPr id="181" name="Google Shape;181;g3973c56dd05_0_6"/>
          <p:cNvSpPr/>
          <p:nvPr/>
        </p:nvSpPr>
        <p:spPr>
          <a:xfrm>
            <a:off x="320059" y="1005850"/>
            <a:ext cx="7852200" cy="3840600"/>
          </a:xfrm>
          <a:prstGeom prst="rect">
            <a:avLst/>
          </a:prstGeom>
          <a:solidFill>
            <a:srgbClr val="FFFFFF"/>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973c56dd05_0_6"/>
          <p:cNvSpPr/>
          <p:nvPr/>
        </p:nvSpPr>
        <p:spPr>
          <a:xfrm>
            <a:off x="320059" y="1005850"/>
            <a:ext cx="7852200" cy="3840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3973c56dd05_0_6"/>
          <p:cNvSpPr/>
          <p:nvPr/>
        </p:nvSpPr>
        <p:spPr>
          <a:xfrm>
            <a:off x="457200" y="1078992"/>
            <a:ext cx="3931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184" name="Google Shape;184;g3973c56dd05_0_6"/>
          <p:cNvSpPr/>
          <p:nvPr/>
        </p:nvSpPr>
        <p:spPr>
          <a:xfrm>
            <a:off x="457200" y="1463040"/>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AB"/>
              </a:buClr>
              <a:buSzPts val="950"/>
              <a:buFont typeface="Courier New"/>
              <a:buNone/>
            </a:pPr>
            <a:r>
              <a:rPr b="1" i="0" lang="en-US" sz="950" u="none" cap="none" strike="noStrike">
                <a:solidFill>
                  <a:srgbClr val="2E86AB"/>
                </a:solidFill>
                <a:latin typeface="Courier New"/>
                <a:ea typeface="Courier New"/>
                <a:cs typeface="Courier New"/>
                <a:sym typeface="Courier New"/>
              </a:rPr>
              <a:t>Define and apply the ACL</a:t>
            </a:r>
            <a:endParaRPr b="0" i="0" sz="950" u="none" cap="none" strike="noStrike">
              <a:solidFill>
                <a:schemeClr val="dk1"/>
              </a:solidFill>
              <a:latin typeface="Calibri"/>
              <a:ea typeface="Calibri"/>
              <a:cs typeface="Calibri"/>
              <a:sym typeface="Calibri"/>
            </a:endParaRPr>
          </a:p>
        </p:txBody>
      </p:sp>
      <p:sp>
        <p:nvSpPr>
          <p:cNvPr id="185" name="Google Shape;185;g3973c56dd05_0_6"/>
          <p:cNvSpPr/>
          <p:nvPr/>
        </p:nvSpPr>
        <p:spPr>
          <a:xfrm>
            <a:off x="457200" y="1664208"/>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rPr b="0" i="0" lang="en-US" sz="950" u="none" cap="none" strike="noStrike">
                <a:solidFill>
                  <a:srgbClr val="1A4A6B"/>
                </a:solidFill>
                <a:latin typeface="Courier New"/>
                <a:ea typeface="Courier New"/>
                <a:cs typeface="Courier New"/>
                <a:sym typeface="Courier New"/>
              </a:rPr>
              <a:t>ip access-list extended FIREWALL_POLICY</a:t>
            </a:r>
            <a:endParaRPr b="0" i="0" sz="950" u="none" cap="none" strike="noStrike">
              <a:solidFill>
                <a:schemeClr val="dk1"/>
              </a:solidFill>
              <a:latin typeface="Calibri"/>
              <a:ea typeface="Calibri"/>
              <a:cs typeface="Calibri"/>
              <a:sym typeface="Calibri"/>
            </a:endParaRPr>
          </a:p>
        </p:txBody>
      </p:sp>
      <p:sp>
        <p:nvSpPr>
          <p:cNvPr id="186" name="Google Shape;186;g3973c56dd05_0_6"/>
          <p:cNvSpPr/>
          <p:nvPr/>
        </p:nvSpPr>
        <p:spPr>
          <a:xfrm>
            <a:off x="457200" y="1865376"/>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permit tcp any any eq 80</a:t>
            </a:r>
            <a:endParaRPr b="0" i="0" sz="950" u="none" cap="none" strike="noStrike">
              <a:solidFill>
                <a:schemeClr val="dk1"/>
              </a:solidFill>
              <a:latin typeface="Calibri"/>
              <a:ea typeface="Calibri"/>
              <a:cs typeface="Calibri"/>
              <a:sym typeface="Calibri"/>
            </a:endParaRPr>
          </a:p>
        </p:txBody>
      </p:sp>
      <p:sp>
        <p:nvSpPr>
          <p:cNvPr id="187" name="Google Shape;187;g3973c56dd05_0_6"/>
          <p:cNvSpPr/>
          <p:nvPr/>
        </p:nvSpPr>
        <p:spPr>
          <a:xfrm>
            <a:off x="457200" y="2066544"/>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88" name="Google Shape;188;g3973c56dd05_0_6"/>
          <p:cNvSpPr/>
          <p:nvPr/>
        </p:nvSpPr>
        <p:spPr>
          <a:xfrm>
            <a:off x="457200" y="2267712"/>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6AB"/>
              </a:buClr>
              <a:buSzPts val="950"/>
              <a:buFont typeface="Courier New"/>
              <a:buNone/>
            </a:pPr>
            <a:r>
              <a:rPr b="1" i="0" lang="en-US" sz="950" u="none" cap="none" strike="noStrike">
                <a:solidFill>
                  <a:srgbClr val="2E86AB"/>
                </a:solidFill>
                <a:latin typeface="Courier New"/>
                <a:ea typeface="Courier New"/>
                <a:cs typeface="Courier New"/>
                <a:sym typeface="Courier New"/>
              </a:rPr>
              <a:t>  permit tcp any any eq 443</a:t>
            </a:r>
            <a:endParaRPr b="0" i="0" sz="950" u="none" cap="none" strike="noStrike">
              <a:solidFill>
                <a:schemeClr val="dk1"/>
              </a:solidFill>
              <a:latin typeface="Calibri"/>
              <a:ea typeface="Calibri"/>
              <a:cs typeface="Calibri"/>
              <a:sym typeface="Calibri"/>
            </a:endParaRPr>
          </a:p>
        </p:txBody>
      </p:sp>
      <p:sp>
        <p:nvSpPr>
          <p:cNvPr id="189" name="Google Shape;189;g3973c56dd05_0_6"/>
          <p:cNvSpPr/>
          <p:nvPr/>
        </p:nvSpPr>
        <p:spPr>
          <a:xfrm>
            <a:off x="457200" y="2468880"/>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rPr b="0" i="0" lang="en-US" sz="950" u="none" cap="none" strike="noStrike">
                <a:solidFill>
                  <a:srgbClr val="1A4A6B"/>
                </a:solidFill>
                <a:latin typeface="Courier New"/>
                <a:ea typeface="Courier New"/>
                <a:cs typeface="Courier New"/>
                <a:sym typeface="Courier New"/>
              </a:rPr>
              <a:t>  permit ip any any</a:t>
            </a:r>
            <a:endParaRPr b="0" i="0" sz="950" u="none" cap="none" strike="noStrike">
              <a:solidFill>
                <a:schemeClr val="dk1"/>
              </a:solidFill>
              <a:latin typeface="Calibri"/>
              <a:ea typeface="Calibri"/>
              <a:cs typeface="Calibri"/>
              <a:sym typeface="Calibri"/>
            </a:endParaRPr>
          </a:p>
        </p:txBody>
      </p:sp>
      <p:sp>
        <p:nvSpPr>
          <p:cNvPr id="190" name="Google Shape;190;g3973c56dd05_0_6"/>
          <p:cNvSpPr/>
          <p:nvPr/>
        </p:nvSpPr>
        <p:spPr>
          <a:xfrm>
            <a:off x="457200" y="2670048"/>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rPr b="0" i="0" lang="en-US" sz="950" u="none" cap="none" strike="noStrike">
                <a:solidFill>
                  <a:srgbClr val="333333"/>
                </a:solidFill>
                <a:latin typeface="Courier New"/>
                <a:ea typeface="Courier New"/>
                <a:cs typeface="Courier New"/>
                <a:sym typeface="Courier New"/>
              </a:rPr>
              <a:t>  deny tcp any any eq 22</a:t>
            </a:r>
            <a:endParaRPr b="0" i="0" sz="950" u="none" cap="none" strike="noStrike">
              <a:solidFill>
                <a:schemeClr val="dk1"/>
              </a:solidFill>
              <a:latin typeface="Calibri"/>
              <a:ea typeface="Calibri"/>
              <a:cs typeface="Calibri"/>
              <a:sym typeface="Calibri"/>
            </a:endParaRPr>
          </a:p>
        </p:txBody>
      </p:sp>
      <p:sp>
        <p:nvSpPr>
          <p:cNvPr id="191" name="Google Shape;191;g3973c56dd05_0_6"/>
          <p:cNvSpPr/>
          <p:nvPr/>
        </p:nvSpPr>
        <p:spPr>
          <a:xfrm>
            <a:off x="457200" y="2871216"/>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92" name="Google Shape;192;g3973c56dd05_0_6"/>
          <p:cNvSpPr/>
          <p:nvPr/>
        </p:nvSpPr>
        <p:spPr>
          <a:xfrm>
            <a:off x="457200" y="3072384"/>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93" name="Google Shape;193;g3973c56dd05_0_6"/>
          <p:cNvSpPr/>
          <p:nvPr/>
        </p:nvSpPr>
        <p:spPr>
          <a:xfrm>
            <a:off x="457200" y="3273552"/>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94" name="Google Shape;194;g3973c56dd05_0_6"/>
          <p:cNvSpPr/>
          <p:nvPr/>
        </p:nvSpPr>
        <p:spPr>
          <a:xfrm>
            <a:off x="457200" y="3474720"/>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950"/>
              <a:buFont typeface="Courier New"/>
              <a:buNone/>
            </a:pPr>
            <a:r>
              <a:t/>
            </a:r>
            <a:endParaRPr b="0" i="0" sz="950" u="none" cap="none" strike="noStrike">
              <a:solidFill>
                <a:schemeClr val="dk1"/>
              </a:solidFill>
              <a:latin typeface="Calibri"/>
              <a:ea typeface="Calibri"/>
              <a:cs typeface="Calibri"/>
              <a:sym typeface="Calibri"/>
            </a:endParaRPr>
          </a:p>
        </p:txBody>
      </p:sp>
      <p:sp>
        <p:nvSpPr>
          <p:cNvPr id="195" name="Google Shape;195;g3973c56dd05_0_6"/>
          <p:cNvSpPr/>
          <p:nvPr/>
        </p:nvSpPr>
        <p:spPr>
          <a:xfrm>
            <a:off x="457200" y="3675888"/>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196" name="Google Shape;196;g3973c56dd05_0_6"/>
          <p:cNvSpPr/>
          <p:nvPr/>
        </p:nvSpPr>
        <p:spPr>
          <a:xfrm>
            <a:off x="457200" y="3877056"/>
            <a:ext cx="3931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950"/>
              <a:buFont typeface="Courier New"/>
              <a:buNone/>
            </a:pPr>
            <a:r>
              <a:t/>
            </a:r>
            <a:endParaRPr b="0" i="0" sz="950" u="none" cap="none" strike="noStrike">
              <a:solidFill>
                <a:schemeClr val="dk1"/>
              </a:solidFill>
              <a:latin typeface="Calibri"/>
              <a:ea typeface="Calibri"/>
              <a:cs typeface="Calibri"/>
              <a:sym typeface="Calibri"/>
            </a:endParaRPr>
          </a:p>
        </p:txBody>
      </p:sp>
      <p:pic>
        <p:nvPicPr>
          <p:cNvPr id="197" name="Google Shape;197;g3973c56dd05_0_6"/>
          <p:cNvPicPr preferRelativeResize="0"/>
          <p:nvPr/>
        </p:nvPicPr>
        <p:blipFill>
          <a:blip r:embed="rId3">
            <a:alphaModFix/>
          </a:blip>
          <a:stretch>
            <a:fillRect/>
          </a:stretch>
        </p:blipFill>
        <p:spPr>
          <a:xfrm>
            <a:off x="320050" y="1389850"/>
            <a:ext cx="7852201" cy="3456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02" name="Shape 202"/>
        <p:cNvGrpSpPr/>
        <p:nvPr/>
      </p:nvGrpSpPr>
      <p:grpSpPr>
        <a:xfrm>
          <a:off x="0" y="0"/>
          <a:ext cx="0" cy="0"/>
          <a:chOff x="0" y="0"/>
          <a:chExt cx="0" cy="0"/>
        </a:xfrm>
      </p:grpSpPr>
      <p:sp>
        <p:nvSpPr>
          <p:cNvPr id="203" name="Google Shape;203;p8"/>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Allowed Traffic Testing</a:t>
            </a:r>
            <a:endParaRPr b="0" i="0" sz="4000" u="none" cap="none" strike="noStrike">
              <a:solidFill>
                <a:schemeClr val="dk1"/>
              </a:solidFill>
              <a:latin typeface="Calibri"/>
              <a:ea typeface="Calibri"/>
              <a:cs typeface="Calibri"/>
              <a:sym typeface="Calibri"/>
            </a:endParaRPr>
          </a:p>
        </p:txBody>
      </p:sp>
      <p:sp>
        <p:nvSpPr>
          <p:cNvPr id="204" name="Google Shape;204;p8"/>
          <p:cNvSpPr/>
          <p:nvPr/>
        </p:nvSpPr>
        <p:spPr>
          <a:xfrm>
            <a:off x="320040" y="914400"/>
            <a:ext cx="29260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 HTTP Permitted</a:t>
            </a:r>
            <a:endParaRPr b="0" i="0" sz="1400" u="none" cap="none" strike="noStrike">
              <a:solidFill>
                <a:schemeClr val="dk1"/>
              </a:solidFill>
              <a:latin typeface="Calibri"/>
              <a:ea typeface="Calibri"/>
              <a:cs typeface="Calibri"/>
              <a:sym typeface="Calibri"/>
            </a:endParaRPr>
          </a:p>
        </p:txBody>
      </p:sp>
      <p:sp>
        <p:nvSpPr>
          <p:cNvPr id="205" name="Google Shape;205;p8"/>
          <p:cNvSpPr/>
          <p:nvPr/>
        </p:nvSpPr>
        <p:spPr>
          <a:xfrm>
            <a:off x="320040" y="914400"/>
            <a:ext cx="2926080" cy="347472"/>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8"/>
          <p:cNvSpPr/>
          <p:nvPr/>
        </p:nvSpPr>
        <p:spPr>
          <a:xfrm>
            <a:off x="320040" y="914400"/>
            <a:ext cx="29260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HTTP Permitted</a:t>
            </a:r>
            <a:endParaRPr b="0" i="0" sz="1300" u="none" cap="none" strike="noStrike">
              <a:solidFill>
                <a:schemeClr val="dk1"/>
              </a:solidFill>
              <a:latin typeface="Calibri"/>
              <a:ea typeface="Calibri"/>
              <a:cs typeface="Calibri"/>
              <a:sym typeface="Calibri"/>
            </a:endParaRPr>
          </a:p>
        </p:txBody>
      </p:sp>
      <p:sp>
        <p:nvSpPr>
          <p:cNvPr id="207" name="Google Shape;207;p8"/>
          <p:cNvSpPr/>
          <p:nvPr/>
        </p:nvSpPr>
        <p:spPr>
          <a:xfrm>
            <a:off x="320040" y="1417320"/>
            <a:ext cx="4206240" cy="77724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8"/>
          <p:cNvSpPr/>
          <p:nvPr/>
        </p:nvSpPr>
        <p:spPr>
          <a:xfrm>
            <a:off x="502920" y="1508760"/>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00"/>
              <a:buFont typeface="Calibri"/>
              <a:buNone/>
            </a:pPr>
            <a:r>
              <a:rPr b="1" i="0" lang="en-US" sz="1200" u="none" cap="none" strike="noStrike">
                <a:solidFill>
                  <a:srgbClr val="333333"/>
                </a:solidFill>
                <a:latin typeface="Calibri"/>
                <a:ea typeface="Calibri"/>
                <a:cs typeface="Calibri"/>
                <a:sym typeface="Calibri"/>
              </a:rPr>
              <a:t>PC0 → Server0 (HTTP)</a:t>
            </a:r>
            <a:endParaRPr b="0" i="0" sz="1200" u="none" cap="none" strike="noStrike">
              <a:solidFill>
                <a:schemeClr val="dk1"/>
              </a:solidFill>
              <a:latin typeface="Calibri"/>
              <a:ea typeface="Calibri"/>
              <a:cs typeface="Calibri"/>
              <a:sym typeface="Calibri"/>
            </a:endParaRPr>
          </a:p>
        </p:txBody>
      </p:sp>
      <p:sp>
        <p:nvSpPr>
          <p:cNvPr id="209" name="Google Shape;209;p8"/>
          <p:cNvSpPr/>
          <p:nvPr/>
        </p:nvSpPr>
        <p:spPr>
          <a:xfrm>
            <a:off x="502920" y="1819656"/>
            <a:ext cx="2834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10" name="Google Shape;210;p8"/>
          <p:cNvSpPr/>
          <p:nvPr/>
        </p:nvSpPr>
        <p:spPr>
          <a:xfrm>
            <a:off x="3291840" y="1664208"/>
            <a:ext cx="1143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 Allowed</a:t>
            </a:r>
            <a:endParaRPr b="0" i="0" sz="1200" u="none" cap="none" strike="noStrike">
              <a:solidFill>
                <a:schemeClr val="dk1"/>
              </a:solidFill>
              <a:latin typeface="Calibri"/>
              <a:ea typeface="Calibri"/>
              <a:cs typeface="Calibri"/>
              <a:sym typeface="Calibri"/>
            </a:endParaRPr>
          </a:p>
        </p:txBody>
      </p:sp>
      <p:sp>
        <p:nvSpPr>
          <p:cNvPr id="211" name="Google Shape;211;p8"/>
          <p:cNvSpPr/>
          <p:nvPr/>
        </p:nvSpPr>
        <p:spPr>
          <a:xfrm>
            <a:off x="320040" y="2286000"/>
            <a:ext cx="4206240" cy="77724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8"/>
          <p:cNvSpPr/>
          <p:nvPr/>
        </p:nvSpPr>
        <p:spPr>
          <a:xfrm>
            <a:off x="502920" y="2377440"/>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00"/>
              <a:buFont typeface="Calibri"/>
              <a:buNone/>
            </a:pPr>
            <a:r>
              <a:rPr b="1" i="0" lang="en-US" sz="1200" u="none" cap="none" strike="noStrike">
                <a:solidFill>
                  <a:srgbClr val="333333"/>
                </a:solidFill>
                <a:latin typeface="Calibri"/>
                <a:ea typeface="Calibri"/>
                <a:cs typeface="Calibri"/>
                <a:sym typeface="Calibri"/>
              </a:rPr>
              <a:t>PC0 → Server0 (HTTPS)</a:t>
            </a:r>
            <a:endParaRPr b="0" i="0" sz="1200" u="none" cap="none" strike="noStrike">
              <a:solidFill>
                <a:schemeClr val="dk1"/>
              </a:solidFill>
              <a:latin typeface="Calibri"/>
              <a:ea typeface="Calibri"/>
              <a:cs typeface="Calibri"/>
              <a:sym typeface="Calibri"/>
            </a:endParaRPr>
          </a:p>
        </p:txBody>
      </p:sp>
      <p:sp>
        <p:nvSpPr>
          <p:cNvPr id="213" name="Google Shape;213;p8"/>
          <p:cNvSpPr/>
          <p:nvPr/>
        </p:nvSpPr>
        <p:spPr>
          <a:xfrm>
            <a:off x="502920" y="2688336"/>
            <a:ext cx="2834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14" name="Google Shape;214;p8"/>
          <p:cNvSpPr/>
          <p:nvPr/>
        </p:nvSpPr>
        <p:spPr>
          <a:xfrm>
            <a:off x="3291840" y="2532888"/>
            <a:ext cx="1143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Allowed</a:t>
            </a:r>
            <a:endParaRPr b="0" i="0" sz="1200" u="none" cap="none" strike="noStrike">
              <a:solidFill>
                <a:schemeClr val="dk1"/>
              </a:solidFill>
              <a:latin typeface="Calibri"/>
              <a:ea typeface="Calibri"/>
              <a:cs typeface="Calibri"/>
              <a:sym typeface="Calibri"/>
            </a:endParaRPr>
          </a:p>
        </p:txBody>
      </p:sp>
      <p:sp>
        <p:nvSpPr>
          <p:cNvPr id="215" name="Google Shape;215;p8"/>
          <p:cNvSpPr/>
          <p:nvPr/>
        </p:nvSpPr>
        <p:spPr>
          <a:xfrm>
            <a:off x="320040" y="3154680"/>
            <a:ext cx="4206240" cy="77724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8"/>
          <p:cNvSpPr/>
          <p:nvPr/>
        </p:nvSpPr>
        <p:spPr>
          <a:xfrm>
            <a:off x="502920" y="3246120"/>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00"/>
              <a:buFont typeface="Calibri"/>
              <a:buNone/>
            </a:pPr>
            <a:r>
              <a:rPr b="1" i="0" lang="en-US" sz="1200" u="none" cap="none" strike="noStrike">
                <a:solidFill>
                  <a:srgbClr val="333333"/>
                </a:solidFill>
                <a:latin typeface="Calibri"/>
                <a:ea typeface="Calibri"/>
                <a:cs typeface="Calibri"/>
                <a:sym typeface="Calibri"/>
              </a:rPr>
              <a:t>ACL Rule — Port 443</a:t>
            </a:r>
            <a:endParaRPr b="0" i="0" sz="1200" u="none" cap="none" strike="noStrike">
              <a:solidFill>
                <a:schemeClr val="dk1"/>
              </a:solidFill>
              <a:latin typeface="Calibri"/>
              <a:ea typeface="Calibri"/>
              <a:cs typeface="Calibri"/>
              <a:sym typeface="Calibri"/>
            </a:endParaRPr>
          </a:p>
        </p:txBody>
      </p:sp>
      <p:sp>
        <p:nvSpPr>
          <p:cNvPr id="217" name="Google Shape;217;p8"/>
          <p:cNvSpPr/>
          <p:nvPr/>
        </p:nvSpPr>
        <p:spPr>
          <a:xfrm>
            <a:off x="502920" y="3557016"/>
            <a:ext cx="2834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18" name="Google Shape;218;p8"/>
          <p:cNvSpPr/>
          <p:nvPr/>
        </p:nvSpPr>
        <p:spPr>
          <a:xfrm>
            <a:off x="3291840" y="3401568"/>
            <a:ext cx="1143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1200"/>
              <a:buFont typeface="Calibri"/>
              <a:buNone/>
            </a:pPr>
            <a:r>
              <a:rPr b="1" i="0" lang="en-US" sz="1200" u="none" cap="none" strike="noStrike">
                <a:solidFill>
                  <a:srgbClr val="27AE60"/>
                </a:solidFill>
                <a:latin typeface="Calibri"/>
                <a:ea typeface="Calibri"/>
                <a:cs typeface="Calibri"/>
                <a:sym typeface="Calibri"/>
              </a:rPr>
              <a:t>Allowed</a:t>
            </a:r>
            <a:endParaRPr b="0" i="0" sz="1200" u="none" cap="none" strike="noStrike">
              <a:solidFill>
                <a:schemeClr val="dk1"/>
              </a:solidFill>
              <a:latin typeface="Calibri"/>
              <a:ea typeface="Calibri"/>
              <a:cs typeface="Calibri"/>
              <a:sym typeface="Calibri"/>
            </a:endParaRPr>
          </a:p>
        </p:txBody>
      </p:sp>
      <p:sp>
        <p:nvSpPr>
          <p:cNvPr id="219" name="Google Shape;219;p8"/>
          <p:cNvSpPr/>
          <p:nvPr/>
        </p:nvSpPr>
        <p:spPr>
          <a:xfrm>
            <a:off x="502920" y="4114800"/>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20" name="Google Shape;220;p8"/>
          <p:cNvSpPr/>
          <p:nvPr/>
        </p:nvSpPr>
        <p:spPr>
          <a:xfrm>
            <a:off x="3291840" y="4270248"/>
            <a:ext cx="1143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21" name="Google Shape;221;p8"/>
          <p:cNvSpPr/>
          <p:nvPr/>
        </p:nvSpPr>
        <p:spPr>
          <a:xfrm>
            <a:off x="4818888" y="2615184"/>
            <a:ext cx="3895344"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0E4EE"/>
              </a:buClr>
              <a:buSzPts val="1100"/>
              <a:buFont typeface="Calibri"/>
              <a:buNone/>
            </a:pPr>
            <a:r>
              <a:rPr b="0" i="1" lang="en-US" sz="1100" u="none" cap="none" strike="noStrike">
                <a:solidFill>
                  <a:srgbClr val="D0E4EE"/>
                </a:solidFill>
                <a:latin typeface="Calibri"/>
                <a:ea typeface="Calibri"/>
                <a:cs typeface="Calibri"/>
                <a:sym typeface="Calibri"/>
              </a:rPr>
              <a:t>[ Insert Screenshot ]</a:t>
            </a:r>
            <a:endParaRPr b="0" i="0" sz="1100" u="none" cap="none" strike="noStrike">
              <a:solidFill>
                <a:schemeClr val="dk1"/>
              </a:solidFill>
              <a:latin typeface="Calibri"/>
              <a:ea typeface="Calibri"/>
              <a:cs typeface="Calibri"/>
              <a:sym typeface="Calibri"/>
            </a:endParaRPr>
          </a:p>
        </p:txBody>
      </p:sp>
      <p:sp>
        <p:nvSpPr>
          <p:cNvPr id="222" name="Google Shape;222;p8"/>
          <p:cNvSpPr/>
          <p:nvPr/>
        </p:nvSpPr>
        <p:spPr>
          <a:xfrm>
            <a:off x="4709160" y="4553712"/>
            <a:ext cx="4114800" cy="292608"/>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4818888" y="4572000"/>
            <a:ext cx="38953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PC0 Web Browser — HTTP to Server0 (10.0.0.10) — Page Loaded Successfully</a:t>
            </a:r>
            <a:endParaRPr b="0" i="0" sz="950" u="none" cap="none" strike="noStrike">
              <a:solidFill>
                <a:schemeClr val="dk1"/>
              </a:solidFill>
              <a:latin typeface="Calibri"/>
              <a:ea typeface="Calibri"/>
              <a:cs typeface="Calibri"/>
              <a:sym typeface="Calibri"/>
            </a:endParaRPr>
          </a:p>
        </p:txBody>
      </p:sp>
      <p:pic>
        <p:nvPicPr>
          <p:cNvPr id="224" name="Google Shape;224;p8" title="Screenshot 2026-04-09 203415.png"/>
          <p:cNvPicPr preferRelativeResize="0"/>
          <p:nvPr/>
        </p:nvPicPr>
        <p:blipFill rotWithShape="1">
          <a:blip r:embed="rId3">
            <a:alphaModFix/>
          </a:blip>
          <a:srcRect b="0" l="0" r="0" t="0"/>
          <a:stretch/>
        </p:blipFill>
        <p:spPr>
          <a:xfrm>
            <a:off x="4270825" y="980575"/>
            <a:ext cx="4838449" cy="39910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29" name="Shape 229"/>
        <p:cNvGrpSpPr/>
        <p:nvPr/>
      </p:nvGrpSpPr>
      <p:grpSpPr>
        <a:xfrm>
          <a:off x="0" y="0"/>
          <a:ext cx="0" cy="0"/>
          <a:chOff x="0" y="0"/>
          <a:chExt cx="0" cy="0"/>
        </a:xfrm>
      </p:grpSpPr>
      <p:sp>
        <p:nvSpPr>
          <p:cNvPr id="230" name="Google Shape;230;p9"/>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Blocked Traffic Testing</a:t>
            </a:r>
            <a:endParaRPr b="0" i="0" sz="4000" u="none" cap="none" strike="noStrike">
              <a:solidFill>
                <a:schemeClr val="dk1"/>
              </a:solidFill>
              <a:latin typeface="Calibri"/>
              <a:ea typeface="Calibri"/>
              <a:cs typeface="Calibri"/>
              <a:sym typeface="Calibri"/>
            </a:endParaRPr>
          </a:p>
        </p:txBody>
      </p:sp>
      <p:sp>
        <p:nvSpPr>
          <p:cNvPr id="231" name="Google Shape;231;p9"/>
          <p:cNvSpPr/>
          <p:nvPr/>
        </p:nvSpPr>
        <p:spPr>
          <a:xfrm>
            <a:off x="320040" y="960120"/>
            <a:ext cx="2926080" cy="347472"/>
          </a:xfrm>
          <a:prstGeom prst="rect">
            <a:avLst/>
          </a:prstGeom>
          <a:solidFill>
            <a:srgbClr val="E74C3C"/>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9"/>
          <p:cNvSpPr/>
          <p:nvPr/>
        </p:nvSpPr>
        <p:spPr>
          <a:xfrm>
            <a:off x="320040" y="960120"/>
            <a:ext cx="82296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  Telnet Blocked by Firewall ACL</a:t>
            </a:r>
            <a:endParaRPr b="0" i="0" sz="1300" u="none" cap="none" strike="noStrike">
              <a:solidFill>
                <a:schemeClr val="dk1"/>
              </a:solidFill>
              <a:latin typeface="Calibri"/>
              <a:ea typeface="Calibri"/>
              <a:cs typeface="Calibri"/>
              <a:sym typeface="Calibri"/>
            </a:endParaRPr>
          </a:p>
        </p:txBody>
      </p:sp>
      <p:sp>
        <p:nvSpPr>
          <p:cNvPr id="233" name="Google Shape;233;p9"/>
          <p:cNvSpPr/>
          <p:nvPr/>
        </p:nvSpPr>
        <p:spPr>
          <a:xfrm>
            <a:off x="320040" y="960120"/>
            <a:ext cx="4572000" cy="347472"/>
          </a:xfrm>
          <a:prstGeom prst="rect">
            <a:avLst/>
          </a:prstGeom>
          <a:solidFill>
            <a:srgbClr val="E74C3C"/>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9"/>
          <p:cNvSpPr/>
          <p:nvPr/>
        </p:nvSpPr>
        <p:spPr>
          <a:xfrm>
            <a:off x="411480" y="960120"/>
            <a:ext cx="43891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Telnet Blocked by Firewall ACL</a:t>
            </a:r>
            <a:endParaRPr b="0" i="0" sz="1300" u="none" cap="none" strike="noStrike">
              <a:solidFill>
                <a:schemeClr val="dk1"/>
              </a:solidFill>
              <a:latin typeface="Calibri"/>
              <a:ea typeface="Calibri"/>
              <a:cs typeface="Calibri"/>
              <a:sym typeface="Calibri"/>
            </a:endParaRPr>
          </a:p>
        </p:txBody>
      </p:sp>
      <p:sp>
        <p:nvSpPr>
          <p:cNvPr id="235" name="Google Shape;235;p9"/>
          <p:cNvSpPr/>
          <p:nvPr/>
        </p:nvSpPr>
        <p:spPr>
          <a:xfrm>
            <a:off x="2468890" y="4526200"/>
            <a:ext cx="4206300" cy="2925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9"/>
          <p:cNvSpPr/>
          <p:nvPr/>
        </p:nvSpPr>
        <p:spPr>
          <a:xfrm>
            <a:off x="2578656" y="4553650"/>
            <a:ext cx="39867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t/>
            </a:r>
            <a:endParaRPr b="0" i="0" sz="950" u="none" cap="none" strike="noStrike">
              <a:solidFill>
                <a:schemeClr val="dk1"/>
              </a:solidFill>
              <a:latin typeface="Calibri"/>
              <a:ea typeface="Calibri"/>
              <a:cs typeface="Calibri"/>
              <a:sym typeface="Calibri"/>
            </a:endParaRPr>
          </a:p>
        </p:txBody>
      </p:sp>
      <p:pic>
        <p:nvPicPr>
          <p:cNvPr id="237" name="Google Shape;237;p9"/>
          <p:cNvPicPr preferRelativeResize="0"/>
          <p:nvPr/>
        </p:nvPicPr>
        <p:blipFill rotWithShape="1">
          <a:blip r:embed="rId3">
            <a:alphaModFix/>
          </a:blip>
          <a:srcRect b="0" l="0" r="0" t="0"/>
          <a:stretch/>
        </p:blipFill>
        <p:spPr>
          <a:xfrm>
            <a:off x="411475" y="1307600"/>
            <a:ext cx="3930650" cy="3246049"/>
          </a:xfrm>
          <a:prstGeom prst="rect">
            <a:avLst/>
          </a:prstGeom>
          <a:noFill/>
          <a:ln>
            <a:noFill/>
          </a:ln>
        </p:spPr>
      </p:pic>
      <p:pic>
        <p:nvPicPr>
          <p:cNvPr id="238" name="Google Shape;238;p9"/>
          <p:cNvPicPr preferRelativeResize="0"/>
          <p:nvPr/>
        </p:nvPicPr>
        <p:blipFill rotWithShape="1">
          <a:blip r:embed="rId4">
            <a:alphaModFix/>
          </a:blip>
          <a:srcRect b="0" l="0" r="0" t="0"/>
          <a:stretch/>
        </p:blipFill>
        <p:spPr>
          <a:xfrm>
            <a:off x="4342125" y="1380750"/>
            <a:ext cx="4490426" cy="2866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43" name="Shape 243"/>
        <p:cNvGrpSpPr/>
        <p:nvPr/>
      </p:nvGrpSpPr>
      <p:grpSpPr>
        <a:xfrm>
          <a:off x="0" y="0"/>
          <a:ext cx="0" cy="0"/>
          <a:chOff x="0" y="0"/>
          <a:chExt cx="0" cy="0"/>
        </a:xfrm>
      </p:grpSpPr>
      <p:sp>
        <p:nvSpPr>
          <p:cNvPr id="244" name="Google Shape;244;g397241c1330_0_5"/>
          <p:cNvSpPr/>
          <p:nvPr/>
        </p:nvSpPr>
        <p:spPr>
          <a:xfrm>
            <a:off x="365760" y="531743"/>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US" sz="4000" u="none" cap="none" strike="noStrike">
                <a:solidFill>
                  <a:srgbClr val="1A4A6B"/>
                </a:solidFill>
                <a:latin typeface="Calibri"/>
                <a:ea typeface="Calibri"/>
                <a:cs typeface="Calibri"/>
                <a:sym typeface="Calibri"/>
              </a:rPr>
              <a:t>Wireshark - Blocked Telnet Traffic (Port 23 Denied)</a:t>
            </a:r>
            <a:endParaRPr b="1" i="0" sz="4000" u="none" cap="none" strike="noStrike">
              <a:solidFill>
                <a:srgbClr val="1A4A6B"/>
              </a:solidFill>
              <a:latin typeface="Calibri"/>
              <a:ea typeface="Calibri"/>
              <a:cs typeface="Calibri"/>
              <a:sym typeface="Calibri"/>
            </a:endParaRPr>
          </a:p>
          <a:p>
            <a:pPr indent="0" lvl="0" marL="0" marR="0" rtl="0" algn="l">
              <a:lnSpc>
                <a:spcPct val="100000"/>
              </a:lnSpc>
              <a:spcBef>
                <a:spcPts val="0"/>
              </a:spcBef>
              <a:spcAft>
                <a:spcPts val="0"/>
              </a:spcAft>
              <a:buClr>
                <a:srgbClr val="1A4A6B"/>
              </a:buClr>
              <a:buSzPts val="4000"/>
              <a:buFont typeface="Calibri"/>
              <a:buNone/>
            </a:pPr>
            <a:r>
              <a:t/>
            </a:r>
            <a:endParaRPr b="1" i="0" sz="4000" u="none" cap="none" strike="noStrike">
              <a:solidFill>
                <a:srgbClr val="1A4A6B"/>
              </a:solidFill>
              <a:latin typeface="Calibri"/>
              <a:ea typeface="Calibri"/>
              <a:cs typeface="Calibri"/>
              <a:sym typeface="Calibri"/>
            </a:endParaRPr>
          </a:p>
        </p:txBody>
      </p:sp>
      <p:sp>
        <p:nvSpPr>
          <p:cNvPr id="245" name="Google Shape;245;g397241c1330_0_5"/>
          <p:cNvSpPr/>
          <p:nvPr/>
        </p:nvSpPr>
        <p:spPr>
          <a:xfrm>
            <a:off x="2468890" y="4526200"/>
            <a:ext cx="4206300" cy="2925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97241c1330_0_5"/>
          <p:cNvSpPr/>
          <p:nvPr/>
        </p:nvSpPr>
        <p:spPr>
          <a:xfrm>
            <a:off x="2578656" y="4553650"/>
            <a:ext cx="39867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247" name="Google Shape;247;g397241c1330_0_5"/>
          <p:cNvSpPr txBox="1"/>
          <p:nvPr/>
        </p:nvSpPr>
        <p:spPr>
          <a:xfrm>
            <a:off x="119000" y="1401575"/>
            <a:ext cx="4151700" cy="2784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US" sz="1800" u="none" cap="none" strike="noStrike">
                <a:solidFill>
                  <a:srgbClr val="595959"/>
                </a:solidFill>
                <a:latin typeface="Arial"/>
                <a:ea typeface="Arial"/>
                <a:cs typeface="Arial"/>
                <a:sym typeface="Arial"/>
              </a:rPr>
              <a:t>Wireshark captured TCP traffic on port 23 showing SYN packets attempting a Telnet connection immediately followed by RST/ACK reset packets, confirming the connection was refused and blocked. No successful connection was established on port 23.</a:t>
            </a:r>
            <a:endParaRPr b="0" i="0" sz="1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8" name="Google Shape;248;g397241c1330_0_5" title="Screenshot 2026-04-12 144422.png"/>
          <p:cNvPicPr preferRelativeResize="0"/>
          <p:nvPr/>
        </p:nvPicPr>
        <p:blipFill rotWithShape="1">
          <a:blip r:embed="rId3">
            <a:alphaModFix/>
          </a:blip>
          <a:srcRect b="0" l="0" r="0" t="0"/>
          <a:stretch/>
        </p:blipFill>
        <p:spPr>
          <a:xfrm>
            <a:off x="4270700" y="1217550"/>
            <a:ext cx="3986698" cy="3079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53" name="Shape 253"/>
        <p:cNvGrpSpPr/>
        <p:nvPr/>
      </p:nvGrpSpPr>
      <p:grpSpPr>
        <a:xfrm>
          <a:off x="0" y="0"/>
          <a:ext cx="0" cy="0"/>
          <a:chOff x="0" y="0"/>
          <a:chExt cx="0" cy="0"/>
        </a:xfrm>
      </p:grpSpPr>
      <p:sp>
        <p:nvSpPr>
          <p:cNvPr id="254" name="Google Shape;254;g397241c1330_0_20"/>
          <p:cNvSpPr/>
          <p:nvPr/>
        </p:nvSpPr>
        <p:spPr>
          <a:xfrm>
            <a:off x="365760" y="822643"/>
            <a:ext cx="8412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1" i="0" lang="en-US" sz="2800" u="none" cap="none" strike="noStrike">
                <a:solidFill>
                  <a:srgbClr val="1A4A6B"/>
                </a:solidFill>
                <a:latin typeface="Arial"/>
                <a:ea typeface="Arial"/>
                <a:cs typeface="Arial"/>
                <a:sym typeface="Arial"/>
              </a:rPr>
              <a:t>Wireshark - Successful HTTPS Connection (Port 443 Allowed)</a:t>
            </a:r>
            <a:endParaRPr b="1" i="0" sz="2800" u="none" cap="none" strike="noStrike">
              <a:solidFill>
                <a:srgbClr val="1A4A6B"/>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4000" u="none" cap="none" strike="noStrike">
              <a:solidFill>
                <a:srgbClr val="1A4A6B"/>
              </a:solidFill>
              <a:latin typeface="Calibri"/>
              <a:ea typeface="Calibri"/>
              <a:cs typeface="Calibri"/>
              <a:sym typeface="Calibri"/>
            </a:endParaRPr>
          </a:p>
          <a:p>
            <a:pPr indent="0" lvl="0" marL="0" marR="0" rtl="0" algn="l">
              <a:lnSpc>
                <a:spcPct val="100000"/>
              </a:lnSpc>
              <a:spcBef>
                <a:spcPts val="0"/>
              </a:spcBef>
              <a:spcAft>
                <a:spcPts val="0"/>
              </a:spcAft>
              <a:buClr>
                <a:srgbClr val="1A4A6B"/>
              </a:buClr>
              <a:buSzPts val="4000"/>
              <a:buFont typeface="Calibri"/>
              <a:buNone/>
            </a:pPr>
            <a:r>
              <a:t/>
            </a:r>
            <a:endParaRPr b="1" i="0" sz="4000" u="none" cap="none" strike="noStrike">
              <a:solidFill>
                <a:srgbClr val="1A4A6B"/>
              </a:solidFill>
              <a:latin typeface="Calibri"/>
              <a:ea typeface="Calibri"/>
              <a:cs typeface="Calibri"/>
              <a:sym typeface="Calibri"/>
            </a:endParaRPr>
          </a:p>
        </p:txBody>
      </p:sp>
      <p:sp>
        <p:nvSpPr>
          <p:cNvPr id="255" name="Google Shape;255;g397241c1330_0_20"/>
          <p:cNvSpPr/>
          <p:nvPr/>
        </p:nvSpPr>
        <p:spPr>
          <a:xfrm>
            <a:off x="2468890" y="4526200"/>
            <a:ext cx="4206300" cy="292500"/>
          </a:xfrm>
          <a:prstGeom prst="rect">
            <a:avLst/>
          </a:prstGeom>
          <a:solidFill>
            <a:srgbClr val="1A4A6B"/>
          </a:solidFill>
          <a:ln cap="flat" cmpd="sng" w="12700">
            <a:solidFill>
              <a:srgbClr val="1A4A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97241c1330_0_20"/>
          <p:cNvSpPr/>
          <p:nvPr/>
        </p:nvSpPr>
        <p:spPr>
          <a:xfrm>
            <a:off x="2578656" y="4553650"/>
            <a:ext cx="39867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257" name="Google Shape;257;g397241c1330_0_20"/>
          <p:cNvSpPr txBox="1"/>
          <p:nvPr/>
        </p:nvSpPr>
        <p:spPr>
          <a:xfrm>
            <a:off x="119000" y="1401575"/>
            <a:ext cx="415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8" name="Google Shape;258;g397241c1330_0_20"/>
          <p:cNvPicPr preferRelativeResize="0"/>
          <p:nvPr/>
        </p:nvPicPr>
        <p:blipFill rotWithShape="1">
          <a:blip r:embed="rId3">
            <a:alphaModFix/>
          </a:blip>
          <a:srcRect b="0" l="0" r="0" t="0"/>
          <a:stretch/>
        </p:blipFill>
        <p:spPr>
          <a:xfrm>
            <a:off x="311750" y="1073125"/>
            <a:ext cx="4257500" cy="3555601"/>
          </a:xfrm>
          <a:prstGeom prst="rect">
            <a:avLst/>
          </a:prstGeom>
          <a:noFill/>
          <a:ln>
            <a:noFill/>
          </a:ln>
        </p:spPr>
      </p:pic>
      <p:sp>
        <p:nvSpPr>
          <p:cNvPr id="259" name="Google Shape;259;g397241c1330_0_20"/>
          <p:cNvSpPr txBox="1"/>
          <p:nvPr/>
        </p:nvSpPr>
        <p:spPr>
          <a:xfrm>
            <a:off x="4662425" y="1207875"/>
            <a:ext cx="4151700" cy="34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t>Wireshark captured live HTTPS traffic on TCP port 443 using the Wi-Fi adapter. The capture shows a complete TCP three-way handshake (SYN, SYN-ACK, ACK) followed by TLSv1.3 encrypted data exchange between the host machine (192.168.0.113) and an external server (34.149.66.154). This confirms that port 443 traffic flows freely through the network, consistent with the FIREWALL_POLICY ACL rule permitting all TCP traffic on port 443.</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7FA"/>
        </a:solidFill>
      </p:bgPr>
    </p:bg>
    <p:spTree>
      <p:nvGrpSpPr>
        <p:cNvPr id="263" name="Shape 263"/>
        <p:cNvGrpSpPr/>
        <p:nvPr/>
      </p:nvGrpSpPr>
      <p:grpSpPr>
        <a:xfrm>
          <a:off x="0" y="0"/>
          <a:ext cx="0" cy="0"/>
          <a:chOff x="0" y="0"/>
          <a:chExt cx="0" cy="0"/>
        </a:xfrm>
      </p:grpSpPr>
      <p:sp>
        <p:nvSpPr>
          <p:cNvPr id="264" name="Google Shape;264;p14"/>
          <p:cNvSpPr/>
          <p:nvPr/>
        </p:nvSpPr>
        <p:spPr>
          <a:xfrm>
            <a:off x="365760" y="201168"/>
            <a:ext cx="8412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4A6B"/>
              </a:buClr>
              <a:buSzPts val="4000"/>
              <a:buFont typeface="Calibri"/>
              <a:buNone/>
            </a:pPr>
            <a:r>
              <a:rPr b="1" i="0" lang="en-US" sz="4000" u="none" cap="none" strike="noStrike">
                <a:solidFill>
                  <a:srgbClr val="1A4A6B"/>
                </a:solidFill>
                <a:latin typeface="Calibri"/>
                <a:ea typeface="Calibri"/>
                <a:cs typeface="Calibri"/>
                <a:sym typeface="Calibri"/>
              </a:rPr>
              <a:t>Issues &amp; Troubleshooting</a:t>
            </a:r>
            <a:endParaRPr b="0" i="0" sz="4000" u="none" cap="none" strike="noStrike">
              <a:solidFill>
                <a:schemeClr val="dk1"/>
              </a:solidFill>
              <a:latin typeface="Calibri"/>
              <a:ea typeface="Calibri"/>
              <a:cs typeface="Calibri"/>
              <a:sym typeface="Calibri"/>
            </a:endParaRPr>
          </a:p>
        </p:txBody>
      </p:sp>
      <p:sp>
        <p:nvSpPr>
          <p:cNvPr id="265" name="Google Shape;265;p14"/>
          <p:cNvSpPr/>
          <p:nvPr/>
        </p:nvSpPr>
        <p:spPr>
          <a:xfrm>
            <a:off x="320040" y="1051560"/>
            <a:ext cx="8503920" cy="749808"/>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4"/>
          <p:cNvSpPr/>
          <p:nvPr/>
        </p:nvSpPr>
        <p:spPr>
          <a:xfrm>
            <a:off x="411475" y="1115575"/>
            <a:ext cx="8412600" cy="685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b="1" lang="en-US">
                <a:solidFill>
                  <a:schemeClr val="dk1"/>
                </a:solidFill>
                <a:latin typeface="Calibri"/>
                <a:ea typeface="Calibri"/>
                <a:cs typeface="Calibri"/>
                <a:sym typeface="Calibri"/>
              </a:rPr>
              <a:t>Applied ACL to the wrong interface first,</a:t>
            </a:r>
            <a:r>
              <a:rPr lang="en-US">
                <a:solidFill>
                  <a:schemeClr val="dk1"/>
                </a:solidFill>
                <a:latin typeface="Calibri"/>
                <a:ea typeface="Calibri"/>
                <a:cs typeface="Calibri"/>
                <a:sym typeface="Calibri"/>
              </a:rPr>
              <a:t> The ACL was initially applied to Fa0/0 instead of Fa0/1, causing the server to become unreachable. Fixed by moving the ip access-group FIREWALL_POLICY inbound command to Fa0/1.</a:t>
            </a:r>
            <a:endParaRPr sz="1500">
              <a:solidFill>
                <a:srgbClr val="333333"/>
              </a:solidFill>
              <a:latin typeface="Calibri"/>
              <a:ea typeface="Calibri"/>
              <a:cs typeface="Calibri"/>
              <a:sym typeface="Calibri"/>
            </a:endParaRPr>
          </a:p>
        </p:txBody>
      </p:sp>
      <p:sp>
        <p:nvSpPr>
          <p:cNvPr id="267" name="Google Shape;267;p14"/>
          <p:cNvSpPr/>
          <p:nvPr/>
        </p:nvSpPr>
        <p:spPr>
          <a:xfrm>
            <a:off x="320040" y="2843784"/>
            <a:ext cx="8503920" cy="74980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4"/>
          <p:cNvSpPr/>
          <p:nvPr/>
        </p:nvSpPr>
        <p:spPr>
          <a:xfrm>
            <a:off x="411480" y="2971800"/>
            <a:ext cx="493776" cy="493776"/>
          </a:xfrm>
          <a:prstGeom prst="ellipse">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4"/>
          <p:cNvSpPr/>
          <p:nvPr/>
        </p:nvSpPr>
        <p:spPr>
          <a:xfrm>
            <a:off x="411480" y="2971800"/>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270" name="Google Shape;270;p14"/>
          <p:cNvSpPr/>
          <p:nvPr/>
        </p:nvSpPr>
        <p:spPr>
          <a:xfrm>
            <a:off x="1051560" y="3026664"/>
            <a:ext cx="75895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500"/>
              <a:buFont typeface="Calibri"/>
              <a:buNone/>
            </a:pPr>
            <a:r>
              <a:t/>
            </a:r>
            <a:endParaRPr b="0" i="0" sz="1500" u="none" cap="none" strike="noStrike">
              <a:solidFill>
                <a:schemeClr val="dk1"/>
              </a:solidFill>
              <a:latin typeface="Calibri"/>
              <a:ea typeface="Calibri"/>
              <a:cs typeface="Calibri"/>
              <a:sym typeface="Calibri"/>
            </a:endParaRPr>
          </a:p>
        </p:txBody>
      </p:sp>
      <p:sp>
        <p:nvSpPr>
          <p:cNvPr id="271" name="Google Shape;271;p14"/>
          <p:cNvSpPr/>
          <p:nvPr/>
        </p:nvSpPr>
        <p:spPr>
          <a:xfrm>
            <a:off x="320040" y="3739896"/>
            <a:ext cx="8503920" cy="74980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4"/>
          <p:cNvSpPr/>
          <p:nvPr/>
        </p:nvSpPr>
        <p:spPr>
          <a:xfrm>
            <a:off x="411480" y="3867912"/>
            <a:ext cx="493776" cy="493776"/>
          </a:xfrm>
          <a:prstGeom prst="ellipse">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4"/>
          <p:cNvSpPr/>
          <p:nvPr/>
        </p:nvSpPr>
        <p:spPr>
          <a:xfrm>
            <a:off x="411480" y="3867912"/>
            <a:ext cx="493776"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274" name="Google Shape;274;p14"/>
          <p:cNvSpPr/>
          <p:nvPr/>
        </p:nvSpPr>
        <p:spPr>
          <a:xfrm>
            <a:off x="1051560" y="3922776"/>
            <a:ext cx="75895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500"/>
              <a:buFont typeface="Calibri"/>
              <a:buNone/>
            </a:pPr>
            <a:r>
              <a:t/>
            </a:r>
            <a:endParaRPr b="0" i="0" sz="1500" u="none" cap="none" strike="noStrike">
              <a:solidFill>
                <a:schemeClr val="dk1"/>
              </a:solidFill>
              <a:latin typeface="Calibri"/>
              <a:ea typeface="Calibri"/>
              <a:cs typeface="Calibri"/>
              <a:sym typeface="Calibri"/>
            </a:endParaRPr>
          </a:p>
        </p:txBody>
      </p:sp>
      <p:sp>
        <p:nvSpPr>
          <p:cNvPr id="275" name="Google Shape;275;p14"/>
          <p:cNvSpPr/>
          <p:nvPr/>
        </p:nvSpPr>
        <p:spPr>
          <a:xfrm>
            <a:off x="320090" y="2094085"/>
            <a:ext cx="8503800" cy="74970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US">
                <a:solidFill>
                  <a:schemeClr val="dk1"/>
                </a:solidFill>
                <a:latin typeface="Calibri"/>
                <a:ea typeface="Calibri"/>
                <a:cs typeface="Calibri"/>
                <a:sym typeface="Calibri"/>
              </a:rPr>
              <a:t>FastEthernet1/0 Did Not Exist</a:t>
            </a:r>
            <a:r>
              <a:rPr lang="en-US">
                <a:solidFill>
                  <a:schemeClr val="dk1"/>
                </a:solidFill>
                <a:latin typeface="Calibri"/>
                <a:ea typeface="Calibri"/>
                <a:cs typeface="Calibri"/>
                <a:sym typeface="Calibri"/>
              </a:rPr>
              <a:t> The 2811 router only has Fa0/0 and Fa0/1. Configuring Fa1/0 returned an "Invalid interface" error. Fixed by reassigning the server connection to Fa0/0.</a:t>
            </a:r>
            <a:endParaRPr i="0" sz="1700" u="none" cap="none" strike="noStrike">
              <a:solidFill>
                <a:srgbClr val="000000"/>
              </a:solidFill>
              <a:latin typeface="Calibri"/>
              <a:ea typeface="Calibri"/>
              <a:cs typeface="Calibri"/>
              <a:sym typeface="Calibri"/>
            </a:endParaRPr>
          </a:p>
        </p:txBody>
      </p:sp>
      <p:sp>
        <p:nvSpPr>
          <p:cNvPr id="276" name="Google Shape;276;p14"/>
          <p:cNvSpPr/>
          <p:nvPr/>
        </p:nvSpPr>
        <p:spPr>
          <a:xfrm>
            <a:off x="320090" y="3136485"/>
            <a:ext cx="8503800" cy="74970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US">
                <a:solidFill>
                  <a:schemeClr val="dk1"/>
                </a:solidFill>
                <a:latin typeface="Calibri"/>
                <a:ea typeface="Calibri"/>
                <a:cs typeface="Calibri"/>
                <a:sym typeface="Calibri"/>
              </a:rPr>
              <a:t>Packet Tracer File Lost After Restart</a:t>
            </a:r>
            <a:r>
              <a:rPr lang="en-US">
                <a:solidFill>
                  <a:schemeClr val="dk1"/>
                </a:solidFill>
                <a:latin typeface="Calibri"/>
                <a:ea typeface="Calibri"/>
                <a:cs typeface="Calibri"/>
                <a:sym typeface="Calibri"/>
              </a:rPr>
              <a:t> The topology file was not saved before restarting to install Telnet Client. The entire topology and ACL configuration had to be rebuilt from scratch.</a:t>
            </a:r>
            <a:endParaRPr i="0" sz="1700" u="none" cap="none" strike="noStrike">
              <a:solidFill>
                <a:srgbClr val="000000"/>
              </a:solidFill>
              <a:latin typeface="Calibri"/>
              <a:ea typeface="Calibri"/>
              <a:cs typeface="Calibri"/>
              <a:sym typeface="Calibri"/>
            </a:endParaRPr>
          </a:p>
        </p:txBody>
      </p:sp>
      <p:sp>
        <p:nvSpPr>
          <p:cNvPr id="277" name="Google Shape;277;p14"/>
          <p:cNvSpPr/>
          <p:nvPr/>
        </p:nvSpPr>
        <p:spPr>
          <a:xfrm>
            <a:off x="320090" y="4261085"/>
            <a:ext cx="8503800" cy="749700"/>
          </a:xfrm>
          <a:prstGeom prst="rect">
            <a:avLst/>
          </a:prstGeom>
          <a:solidFill>
            <a:srgbClr val="F0F4F8"/>
          </a:solidFill>
          <a:ln cap="flat" cmpd="sng" w="9525">
            <a:solidFill>
              <a:srgbClr val="D0E4E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lang="en-US">
                <a:solidFill>
                  <a:schemeClr val="dk1"/>
                </a:solidFill>
                <a:latin typeface="Calibri"/>
                <a:ea typeface="Calibri"/>
                <a:cs typeface="Calibri"/>
                <a:sym typeface="Calibri"/>
              </a:rPr>
              <a:t>VPN Interference with Wireshark Capture</a:t>
            </a:r>
            <a:r>
              <a:rPr lang="en-US">
                <a:solidFill>
                  <a:schemeClr val="dk1"/>
                </a:solidFill>
                <a:latin typeface="Calibri"/>
                <a:ea typeface="Calibri"/>
                <a:cs typeface="Calibri"/>
                <a:sym typeface="Calibri"/>
              </a:rPr>
              <a:t> ProtonVPN was running during Wireshark captures, encrypting all Wi-Fi traffic and preventing port 80 and 443 packets from being visible. Resolved by switching to the loopback adapter to capture local Telnet traffic instead.</a:t>
            </a:r>
            <a:endParaRPr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86AB"/>
        </a:solidFill>
      </p:bgPr>
    </p:bg>
    <p:spTree>
      <p:nvGrpSpPr>
        <p:cNvPr id="282" name="Shape 282"/>
        <p:cNvGrpSpPr/>
        <p:nvPr/>
      </p:nvGrpSpPr>
      <p:grpSpPr>
        <a:xfrm>
          <a:off x="0" y="0"/>
          <a:ext cx="0" cy="0"/>
          <a:chOff x="0" y="0"/>
          <a:chExt cx="0" cy="0"/>
        </a:xfrm>
      </p:grpSpPr>
      <p:sp>
        <p:nvSpPr>
          <p:cNvPr id="283" name="Google Shape;283;p11"/>
          <p:cNvSpPr/>
          <p:nvPr/>
        </p:nvSpPr>
        <p:spPr>
          <a:xfrm>
            <a:off x="-1371600" y="-1371600"/>
            <a:ext cx="5029200" cy="5029200"/>
          </a:xfrm>
          <a:prstGeom prst="ellipse">
            <a:avLst/>
          </a:prstGeom>
          <a:solidFill>
            <a:srgbClr val="4AA8C8">
              <a:alpha val="45098"/>
            </a:srgbClr>
          </a:solidFill>
          <a:ln cap="flat" cmpd="sng" w="12700">
            <a:solidFill>
              <a:srgbClr val="4AA8C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1"/>
          <p:cNvSpPr/>
          <p:nvPr/>
        </p:nvSpPr>
        <p:spPr>
          <a:xfrm>
            <a:off x="5943600" y="2286000"/>
            <a:ext cx="4572000" cy="4572000"/>
          </a:xfrm>
          <a:prstGeom prst="ellipse">
            <a:avLst/>
          </a:prstGeom>
          <a:solidFill>
            <a:srgbClr val="1B3A6B">
              <a:alpha val="80000"/>
            </a:srgbClr>
          </a:solidFill>
          <a:ln cap="flat" cmpd="sng" w="12700">
            <a:solidFill>
              <a:srgbClr val="1B3A6B">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1"/>
          <p:cNvSpPr/>
          <p:nvPr/>
        </p:nvSpPr>
        <p:spPr>
          <a:xfrm>
            <a:off x="-457200" y="3200400"/>
            <a:ext cx="2743200" cy="2743200"/>
          </a:xfrm>
          <a:prstGeom prst="ellipse">
            <a:avLst/>
          </a:prstGeom>
          <a:solidFill>
            <a:srgbClr val="1A5F7A">
              <a:alpha val="50196"/>
            </a:srgbClr>
          </a:solidFill>
          <a:ln cap="flat" cmpd="sng" w="12700">
            <a:solidFill>
              <a:srgbClr val="1A5F7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1"/>
          <p:cNvSpPr/>
          <p:nvPr/>
        </p:nvSpPr>
        <p:spPr>
          <a:xfrm>
            <a:off x="457200" y="1188720"/>
            <a:ext cx="8229600" cy="10972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000"/>
              <a:buFont typeface="Calibri"/>
              <a:buNone/>
            </a:pPr>
            <a:r>
              <a:rPr b="1" i="0" lang="en-US" sz="5000" u="none" cap="none" strike="noStrike">
                <a:solidFill>
                  <a:srgbClr val="FFFFFF"/>
                </a:solidFill>
                <a:latin typeface="Calibri"/>
                <a:ea typeface="Calibri"/>
                <a:cs typeface="Calibri"/>
                <a:sym typeface="Calibri"/>
              </a:rPr>
              <a:t>Lab 3 Successfully Completed</a:t>
            </a:r>
            <a:endParaRPr b="0" i="0" sz="5000" u="none" cap="none" strike="noStrike">
              <a:solidFill>
                <a:schemeClr val="dk1"/>
              </a:solidFill>
              <a:latin typeface="Calibri"/>
              <a:ea typeface="Calibri"/>
              <a:cs typeface="Calibri"/>
              <a:sym typeface="Calibri"/>
            </a:endParaRPr>
          </a:p>
        </p:txBody>
      </p:sp>
      <p:sp>
        <p:nvSpPr>
          <p:cNvPr id="287" name="Google Shape;287;p11"/>
          <p:cNvSpPr/>
          <p:nvPr/>
        </p:nvSpPr>
        <p:spPr>
          <a:xfrm>
            <a:off x="3200400" y="2468880"/>
            <a:ext cx="2743200" cy="64008"/>
          </a:xfrm>
          <a:prstGeom prst="rect">
            <a:avLst/>
          </a:prstGeom>
          <a:solidFill>
            <a:srgbClr val="FFFFFF">
              <a:alpha val="60000"/>
            </a:srgbClr>
          </a:solidFill>
          <a:ln cap="flat" cmpd="sng" w="12700">
            <a:solidFill>
              <a:srgbClr val="FFFFFF">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1"/>
          <p:cNvSpPr/>
          <p:nvPr/>
        </p:nvSpPr>
        <p:spPr>
          <a:xfrm>
            <a:off x="1371600" y="2743200"/>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Firewall interfaces configured — Fa0/0 and Fa0/1 (both up/up</a:t>
            </a:r>
            <a:endParaRPr b="0" i="0" sz="1600" u="none" cap="none" strike="noStrike">
              <a:solidFill>
                <a:schemeClr val="dk1"/>
              </a:solidFill>
              <a:latin typeface="Calibri"/>
              <a:ea typeface="Calibri"/>
              <a:cs typeface="Calibri"/>
              <a:sym typeface="Calibri"/>
            </a:endParaRPr>
          </a:p>
        </p:txBody>
      </p:sp>
      <p:sp>
        <p:nvSpPr>
          <p:cNvPr id="289" name="Google Shape;289;p11"/>
          <p:cNvSpPr/>
          <p:nvPr/>
        </p:nvSpPr>
        <p:spPr>
          <a:xfrm>
            <a:off x="1371600" y="3182112"/>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FIREWALL_POLICY applied inbound on FastEthernet0/1 — all 5 rules active</a:t>
            </a:r>
            <a:endParaRPr b="0" i="0" sz="1600" u="none" cap="none" strike="noStrike">
              <a:solidFill>
                <a:schemeClr val="dk1"/>
              </a:solidFill>
              <a:latin typeface="Calibri"/>
              <a:ea typeface="Calibri"/>
              <a:cs typeface="Calibri"/>
              <a:sym typeface="Calibri"/>
            </a:endParaRPr>
          </a:p>
        </p:txBody>
      </p:sp>
      <p:sp>
        <p:nvSpPr>
          <p:cNvPr id="290" name="Google Shape;290;p11"/>
          <p:cNvSpPr/>
          <p:nvPr/>
        </p:nvSpPr>
        <p:spPr>
          <a:xfrm>
            <a:off x="1371600" y="3621024"/>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HTTP (port 80) and HTTPS (port 443) permitted — Server0 web page loaded successfully</a:t>
            </a:r>
            <a:endParaRPr b="0" i="0" sz="1600" u="none" cap="none" strike="noStrike">
              <a:solidFill>
                <a:schemeClr val="dk1"/>
              </a:solidFill>
              <a:latin typeface="Calibri"/>
              <a:ea typeface="Calibri"/>
              <a:cs typeface="Calibri"/>
              <a:sym typeface="Calibri"/>
            </a:endParaRPr>
          </a:p>
        </p:txBody>
      </p:sp>
      <p:sp>
        <p:nvSpPr>
          <p:cNvPr id="291" name="Google Shape;291;p11"/>
          <p:cNvSpPr/>
          <p:nvPr/>
        </p:nvSpPr>
        <p:spPr>
          <a:xfrm>
            <a:off x="1371600" y="4059936"/>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  Telnet (port 23) blocked — Wireshark and show access-list confirmed enforcement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2026-03-17T23:10:49Z</dcterms:created>
  <dc:creator>PptxGenJS</dc:creator>
</cp:coreProperties>
</file>