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Dm/5Yo5tKAzGxN+Tbx/uWS2i1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4AA8C8">
              <a:alpha val="45098"/>
            </a:srgbClr>
          </a:solidFill>
          <a:ln cap="flat" cmpd="sng" w="12700">
            <a:solidFill>
              <a:srgbClr val="4AA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B3A6B">
              <a:alpha val="80000"/>
            </a:srgbClr>
          </a:solidFill>
          <a:ln cap="flat" cmpd="sng" w="12700">
            <a:solidFill>
              <a:srgbClr val="1B3A6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A5F7A">
              <a:alpha val="50196"/>
            </a:srgbClr>
          </a:solidFill>
          <a:ln cap="flat" cmpd="sng" w="12700">
            <a:solidFill>
              <a:srgbClr val="1A5F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Basic Network Setup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Connectivity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3246120"/>
            <a:ext cx="274320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CSIT491 - Network and Cybersecurity 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931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Anthony Castellanos  •  Imran Ahmed  •  Murtaza Syed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Nicolas Hoyos  •  Shaied Uddin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Lab Objectives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20040" y="1051560"/>
            <a:ext cx="8503920" cy="74980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11480" y="1179576"/>
            <a:ext cx="493776" cy="493776"/>
          </a:xfrm>
          <a:prstGeom prst="ellipse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11480" y="117957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51560" y="123444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Identify and label each device in the network diagram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0040" y="1947672"/>
            <a:ext cx="8503920" cy="74980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11480" y="2075688"/>
            <a:ext cx="493776" cy="493776"/>
          </a:xfrm>
          <a:prstGeom prst="ellipse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11480" y="2075688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51560" y="2130552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Assign a static IP address to PC0 and configure DHCP on the router for PC1 and PC2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" y="2843784"/>
            <a:ext cx="8503920" cy="74980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11480" y="2971800"/>
            <a:ext cx="493776" cy="493776"/>
          </a:xfrm>
          <a:prstGeom prst="ellipse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11480" y="29718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51560" y="3026664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the ping command to verify connectivity between all devices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3739896"/>
            <a:ext cx="8503920" cy="749808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11480" y="3867912"/>
            <a:ext cx="493776" cy="493776"/>
          </a:xfrm>
          <a:prstGeom prst="ellipse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11480" y="3867912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51560" y="3922776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Use ipconfig to confirm network settings on each PC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Equipment &amp; Tools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20040" y="1005840"/>
            <a:ext cx="4206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" y="14173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2920" y="18105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1x Cisco 2911 (GigabitEthernet Interface)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617720" y="1005840"/>
            <a:ext cx="4206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800600" y="14173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800600" y="18105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1x Cisco 2960-24TT (24-port)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0040" y="2606040"/>
            <a:ext cx="4206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02920" y="3017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End Devices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02920" y="34107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3x PCs — 1 static IP, 2 DHCP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617720" y="2606040"/>
            <a:ext cx="4206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800600" y="30175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800600" y="34107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Cisco Packet Tracer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02920" y="427939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Network: 192.168.1.0 / 24     Gateway: 192.168.1.1     PC0: 192.168.1.50 (Static)     PC1: 192.168.1.11 (DHCP)     PC2: 192.168.1.12 (DHCP)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Network Topology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20040" y="1005840"/>
            <a:ext cx="850392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29768" y="1115568"/>
            <a:ext cx="8284464" cy="3072384"/>
          </a:xfrm>
          <a:prstGeom prst="rect">
            <a:avLst/>
          </a:prstGeom>
          <a:solidFill>
            <a:srgbClr val="F5F9FC"/>
          </a:solidFill>
          <a:ln cap="flat" cmpd="sng" w="9525">
            <a:solidFill>
              <a:srgbClr val="D0E4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29768" y="2432304"/>
            <a:ext cx="82844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20040" y="4187952"/>
            <a:ext cx="850392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29768" y="4206240"/>
            <a:ext cx="82844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Packet Tracer Network Topology Screenshot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20040" y="4572000"/>
            <a:ext cx="8503920" cy="5029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Router0 (Gi0/0): 192.168.1.1  |  PC0: 192.168.1.50 (Static) — Fa0/2  |  PC1: 192.168.1.11 (DHCP) — Fa0/3  |  PC2: 192.168.1.12 (DHCP) — Fa0/4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4" title="Screenshot 2026-03-17 at 5.39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775" y="1005850"/>
            <a:ext cx="8284450" cy="3182100"/>
          </a:xfrm>
          <a:prstGeom prst="rect">
            <a:avLst/>
          </a:prstGeom>
          <a:solidFill>
            <a:srgbClr val="F5F9FC"/>
          </a:solidFill>
          <a:ln cap="flat" cmpd="sng" w="9525">
            <a:solidFill>
              <a:srgbClr val="D0E4EE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Router Configuration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050" y="1005850"/>
            <a:ext cx="2928600" cy="3840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20047" y="1005850"/>
            <a:ext cx="2928600" cy="384000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57200" y="10789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Setup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200" y="14630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4A6B"/>
                </a:solidFill>
                <a:latin typeface="Courier New"/>
                <a:ea typeface="Courier New"/>
                <a:cs typeface="Courier New"/>
                <a:sym typeface="Courier New"/>
              </a:rPr>
              <a:t>interface GigabitEthernet0/0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6642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ip address 192.168.1.1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200" y="186537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255.255.255.0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206654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no shutdown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226771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exit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246888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670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Verify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287121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4A6B"/>
                </a:solidFill>
                <a:latin typeface="Courier New"/>
                <a:ea typeface="Courier New"/>
                <a:cs typeface="Courier New"/>
                <a:sym typeface="Courier New"/>
              </a:rPr>
              <a:t>do show ip interface brief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307238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327355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Gi0/0  192.168.1.1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347472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YES manual  up  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727448" y="2615184"/>
            <a:ext cx="3986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617720" y="4553712"/>
            <a:ext cx="420624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727448" y="4572000"/>
            <a:ext cx="39867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 ip interface brief — Gi0/0 up/up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5" title="Screenshot 2026-03-17 at 5.27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650" y="1737400"/>
            <a:ext cx="5575301" cy="17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DHCP Configuration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20040" y="1005840"/>
            <a:ext cx="420624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20040" y="1005840"/>
            <a:ext cx="4206240" cy="38404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10789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DHCP Pool — LAN_POOL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146304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Exclude static addresses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6642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4A6B"/>
                </a:solidFill>
                <a:latin typeface="Courier New"/>
                <a:ea typeface="Courier New"/>
                <a:cs typeface="Courier New"/>
                <a:sym typeface="Courier New"/>
              </a:rPr>
              <a:t>ip dhcp excluded-address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186537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192.168.1.1 192.168.1.10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206654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226771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2E86AB"/>
                </a:solidFill>
                <a:latin typeface="Courier New"/>
                <a:ea typeface="Courier New"/>
                <a:cs typeface="Courier New"/>
                <a:sym typeface="Courier New"/>
              </a:rPr>
              <a:t>Create 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246888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4A6B"/>
                </a:solidFill>
                <a:latin typeface="Courier New"/>
                <a:ea typeface="Courier New"/>
                <a:cs typeface="Courier New"/>
                <a:sym typeface="Courier New"/>
              </a:rPr>
              <a:t>ip dhcp pool LAN_POOL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26700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network 192.168.1.0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287121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255.255.255.0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307238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default-router 192.168.1.1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327355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dns-server 8.8.8.8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57200" y="347472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exit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3675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387705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A4A6B"/>
                </a:solidFill>
                <a:latin typeface="Courier New"/>
                <a:ea typeface="Courier New"/>
                <a:cs typeface="Courier New"/>
                <a:sym typeface="Courier New"/>
              </a:rPr>
              <a:t>write memory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17720" y="1005840"/>
            <a:ext cx="420624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617720" y="1005840"/>
            <a:ext cx="4206240" cy="38404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754880" y="10789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DHCP Pool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617720" y="1508760"/>
            <a:ext cx="4206240" cy="493776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754880" y="16276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Pool 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537960" y="162763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LAN_POOL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17720" y="2002536"/>
            <a:ext cx="4206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754880" y="212140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537960" y="21214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192.168.1.0 / 255.255.255.0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617720" y="2496312"/>
            <a:ext cx="4206240" cy="493776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754880" y="261518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Excluded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537960" y="2615184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192.168.1.1 – 192.168.1.10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617720" y="2990088"/>
            <a:ext cx="4206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754880" y="310896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Assignable Range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537960" y="310896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192.168.1.11 – 192.168.1.254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17720" y="3483864"/>
            <a:ext cx="4206240" cy="493776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754880" y="360273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Default Gateway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537960" y="3602736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192.168.1.1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617720" y="3977640"/>
            <a:ext cx="420624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754880" y="409651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DNS 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537960" y="40965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8.8.8.8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PC IP Configuration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04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PC0 — Static IP (192.168.1.50)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PC1 — DHCP (192.168.1.11)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172200" y="960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PC2 — DHCP (192.168.1.12)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20040" y="1261872"/>
            <a:ext cx="27432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29768" y="27111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" y="4489704"/>
            <a:ext cx="274320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29768" y="4507992"/>
            <a:ext cx="2523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PC0 — ipconfig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46120" y="1261872"/>
            <a:ext cx="27432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355848" y="27111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46120" y="4489704"/>
            <a:ext cx="274320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355848" y="4507992"/>
            <a:ext cx="2523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PC1 — ipconfig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172200" y="1261872"/>
            <a:ext cx="2743200" cy="3520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281928" y="1371600"/>
            <a:ext cx="2523744" cy="3118104"/>
          </a:xfrm>
          <a:prstGeom prst="rect">
            <a:avLst/>
          </a:prstGeom>
          <a:solidFill>
            <a:srgbClr val="F5F9FC"/>
          </a:solidFill>
          <a:ln cap="flat" cmpd="sng" w="9525">
            <a:solidFill>
              <a:srgbClr val="D0E4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281928" y="2711196"/>
            <a:ext cx="25237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72200" y="4489704"/>
            <a:ext cx="274320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281928" y="4507992"/>
            <a:ext cx="2523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PC2 — ipconfig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7" title="Screenshot 2026-03-17 at 8.36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957375"/>
            <a:ext cx="2728299" cy="1480225"/>
          </a:xfrm>
          <a:prstGeom prst="rect">
            <a:avLst/>
          </a:prstGeom>
          <a:solidFill>
            <a:srgbClr val="F5F9FC"/>
          </a:solidFill>
          <a:ln cap="flat" cmpd="sng" w="9525">
            <a:solidFill>
              <a:srgbClr val="D0E4EE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71" name="Google Shape;171;p7" title="Screenshot 2026-03-17 at 8.37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025" y="1957375"/>
            <a:ext cx="2728302" cy="14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 title="Screenshot 2026-03-17 at 8.37.1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200" y="1957375"/>
            <a:ext cx="2728301" cy="14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Ping Testing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20040" y="91440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All Pings Successful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20040" y="914400"/>
            <a:ext cx="2926080" cy="3474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20040" y="91440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All Pings Successful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20040" y="1417320"/>
            <a:ext cx="4206240" cy="7772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02920" y="15087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Router0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02920" y="181965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ping 192.168.1.1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291840" y="166420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 Success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20040" y="2286000"/>
            <a:ext cx="4206240" cy="7772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02920" y="2377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PC1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02920" y="268833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ping 192.168.1.11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291840" y="253288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20040" y="3154680"/>
            <a:ext cx="4206240" cy="77724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02920" y="3246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PC2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02920" y="3557016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ping 192.168.1.12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291840" y="3401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02920" y="41148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291840" y="427024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818888" y="2615184"/>
            <a:ext cx="38953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709160" y="4553712"/>
            <a:ext cx="4114800" cy="292608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818888" y="4572000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PC0 Command Prompt — Ping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8" title="Screenshot 2026-03-17 at 8.42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938" y="201175"/>
            <a:ext cx="3445250" cy="437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Ping Verification — PC1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20040" y="960120"/>
            <a:ext cx="2926080" cy="3474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20040" y="9601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 Bidirectional Communication Confirmed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20040" y="960120"/>
            <a:ext cx="4572000" cy="3474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11480" y="96012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Bidirectional Communication Confirmed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468890" y="4526200"/>
            <a:ext cx="4206300" cy="292500"/>
          </a:xfrm>
          <a:prstGeom prst="rect">
            <a:avLst/>
          </a:prstGeom>
          <a:solidFill>
            <a:srgbClr val="1A4A6B"/>
          </a:solidFill>
          <a:ln cap="flat" cmpd="sng" w="12700">
            <a:solidFill>
              <a:srgbClr val="1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578656" y="4553650"/>
            <a:ext cx="398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PC1 — Ping to PC0 (192.168.1.50)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727448" y="2820924"/>
            <a:ext cx="3986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4E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0E4EE"/>
                </a:solidFill>
                <a:latin typeface="Calibri"/>
                <a:ea typeface="Calibri"/>
                <a:cs typeface="Calibri"/>
                <a:sym typeface="Calibri"/>
              </a:rPr>
              <a:t>[ Insert Screenshot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9" title="Screenshot 2026-03-17 at 8.44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8888" y="1527050"/>
            <a:ext cx="4206225" cy="302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365760" y="201168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4A6B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4A6B"/>
                </a:solidFill>
                <a:latin typeface="Calibri"/>
                <a:ea typeface="Calibri"/>
                <a:cs typeface="Calibri"/>
                <a:sym typeface="Calibri"/>
              </a:rPr>
              <a:t>Complete Testing Summary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20040" y="960120"/>
            <a:ext cx="3200400" cy="3474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411480" y="960120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All Tests Successful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20040" y="1463040"/>
            <a:ext cx="4206240" cy="11887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502920" y="1600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Router0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02920" y="19202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926080" y="19019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20040" y="2834640"/>
            <a:ext cx="4206240" cy="11887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502920" y="29718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PC1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02920" y="32918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Cross-device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926080" y="32735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617720" y="1463040"/>
            <a:ext cx="4206240" cy="11887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800600" y="1600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PC0 → PC2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800600" y="19202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Cross-device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7178040" y="19019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617720" y="2834640"/>
            <a:ext cx="4206240" cy="118872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E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800600" y="29718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PC1 → PC0 (Static)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800600" y="32918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178040" y="327355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✓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4AA8C8">
              <a:alpha val="45098"/>
            </a:srgbClr>
          </a:solidFill>
          <a:ln cap="flat" cmpd="sng" w="12700">
            <a:solidFill>
              <a:srgbClr val="4AA8C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B3A6B">
              <a:alpha val="80000"/>
            </a:srgbClr>
          </a:solidFill>
          <a:ln cap="flat" cmpd="sng" w="12700">
            <a:solidFill>
              <a:srgbClr val="1B3A6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A5F7A">
              <a:alpha val="50196"/>
            </a:srgbClr>
          </a:solidFill>
          <a:ln cap="flat" cmpd="sng" w="12700">
            <a:solidFill>
              <a:srgbClr val="1A5F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 1 Successfully Completed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200400" y="2468880"/>
            <a:ext cx="2743200" cy="64008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371600" y="2743200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Static and DHCP addressing configured successfully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371600" y="318211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DHCP pool verified — addresses assigned to PC1 and PC2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371600" y="362102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All ping tests passed — 4/4 replies, 0% packet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371600" y="4059936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All lab objectives achieved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2026-03-17T23:10:49Z</dcterms:created>
  <dc:creator>PptxGenJS</dc:creator>
</cp:coreProperties>
</file>